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86"/>
  </p:notesMasterIdLst>
  <p:handoutMasterIdLst>
    <p:handoutMasterId r:id="rId87"/>
  </p:handoutMasterIdLst>
  <p:sldIdLst>
    <p:sldId id="335" r:id="rId5"/>
    <p:sldId id="336" r:id="rId6"/>
    <p:sldId id="339" r:id="rId7"/>
    <p:sldId id="348" r:id="rId8"/>
    <p:sldId id="350" r:id="rId9"/>
    <p:sldId id="349" r:id="rId10"/>
    <p:sldId id="351" r:id="rId11"/>
    <p:sldId id="340" r:id="rId12"/>
    <p:sldId id="352" r:id="rId13"/>
    <p:sldId id="354" r:id="rId14"/>
    <p:sldId id="353" r:id="rId15"/>
    <p:sldId id="355" r:id="rId16"/>
    <p:sldId id="356" r:id="rId17"/>
    <p:sldId id="357" r:id="rId18"/>
    <p:sldId id="341" r:id="rId19"/>
    <p:sldId id="378" r:id="rId20"/>
    <p:sldId id="379" r:id="rId21"/>
    <p:sldId id="383" r:id="rId22"/>
    <p:sldId id="380" r:id="rId23"/>
    <p:sldId id="381" r:id="rId24"/>
    <p:sldId id="382" r:id="rId25"/>
    <p:sldId id="384" r:id="rId26"/>
    <p:sldId id="385" r:id="rId27"/>
    <p:sldId id="387" r:id="rId28"/>
    <p:sldId id="386" r:id="rId29"/>
    <p:sldId id="360" r:id="rId30"/>
    <p:sldId id="358" r:id="rId31"/>
    <p:sldId id="342" r:id="rId32"/>
    <p:sldId id="388" r:id="rId33"/>
    <p:sldId id="347" r:id="rId34"/>
    <p:sldId id="343" r:id="rId35"/>
    <p:sldId id="397" r:id="rId36"/>
    <p:sldId id="344" r:id="rId37"/>
    <p:sldId id="399" r:id="rId38"/>
    <p:sldId id="398" r:id="rId39"/>
    <p:sldId id="366" r:id="rId40"/>
    <p:sldId id="345" r:id="rId41"/>
    <p:sldId id="361" r:id="rId42"/>
    <p:sldId id="396" r:id="rId43"/>
    <p:sldId id="363" r:id="rId44"/>
    <p:sldId id="364" r:id="rId45"/>
    <p:sldId id="373" r:id="rId46"/>
    <p:sldId id="389" r:id="rId47"/>
    <p:sldId id="391" r:id="rId48"/>
    <p:sldId id="390" r:id="rId49"/>
    <p:sldId id="365" r:id="rId50"/>
    <p:sldId id="392" r:id="rId51"/>
    <p:sldId id="393" r:id="rId52"/>
    <p:sldId id="376" r:id="rId53"/>
    <p:sldId id="394" r:id="rId54"/>
    <p:sldId id="400" r:id="rId55"/>
    <p:sldId id="368" r:id="rId56"/>
    <p:sldId id="369" r:id="rId57"/>
    <p:sldId id="372" r:id="rId58"/>
    <p:sldId id="317" r:id="rId59"/>
    <p:sldId id="395" r:id="rId60"/>
    <p:sldId id="401" r:id="rId61"/>
    <p:sldId id="402" r:id="rId62"/>
    <p:sldId id="403" r:id="rId63"/>
    <p:sldId id="404" r:id="rId64"/>
    <p:sldId id="405" r:id="rId65"/>
    <p:sldId id="371" r:id="rId66"/>
    <p:sldId id="408" r:id="rId67"/>
    <p:sldId id="409" r:id="rId68"/>
    <p:sldId id="418" r:id="rId69"/>
    <p:sldId id="419" r:id="rId70"/>
    <p:sldId id="420" r:id="rId71"/>
    <p:sldId id="421" r:id="rId72"/>
    <p:sldId id="422" r:id="rId73"/>
    <p:sldId id="423" r:id="rId74"/>
    <p:sldId id="424" r:id="rId75"/>
    <p:sldId id="425" r:id="rId76"/>
    <p:sldId id="410" r:id="rId77"/>
    <p:sldId id="406" r:id="rId78"/>
    <p:sldId id="411" r:id="rId79"/>
    <p:sldId id="412" r:id="rId80"/>
    <p:sldId id="426" r:id="rId81"/>
    <p:sldId id="427" r:id="rId82"/>
    <p:sldId id="414" r:id="rId83"/>
    <p:sldId id="413" r:id="rId84"/>
    <p:sldId id="415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105" d="100"/>
          <a:sy n="105" d="100"/>
        </p:scale>
        <p:origin x="834" y="150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54839C-E9B9-4EFF-8878-5D9D4AE4EDE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93AA754-C368-4F18-AA2E-161C24624523}">
      <dgm:prSet/>
      <dgm:spPr/>
      <dgm:t>
        <a:bodyPr/>
        <a:lstStyle/>
        <a:p>
          <a:r>
            <a:rPr lang="en-US"/>
            <a:t>Moving data to computation nodes is hard</a:t>
          </a:r>
        </a:p>
      </dgm:t>
    </dgm:pt>
    <dgm:pt modelId="{0EDE8356-65C9-49E3-8ADF-7180397F869E}" type="parTrans" cxnId="{BAFD9E8A-108A-4F5B-87A3-ADED3D00A6E8}">
      <dgm:prSet/>
      <dgm:spPr/>
      <dgm:t>
        <a:bodyPr/>
        <a:lstStyle/>
        <a:p>
          <a:endParaRPr lang="en-US"/>
        </a:p>
      </dgm:t>
    </dgm:pt>
    <dgm:pt modelId="{CC66FC85-3090-4F3E-918D-08530D9AB294}" type="sibTrans" cxnId="{BAFD9E8A-108A-4F5B-87A3-ADED3D00A6E8}">
      <dgm:prSet/>
      <dgm:spPr/>
      <dgm:t>
        <a:bodyPr/>
        <a:lstStyle/>
        <a:p>
          <a:endParaRPr lang="en-US"/>
        </a:p>
      </dgm:t>
    </dgm:pt>
    <dgm:pt modelId="{05FDB960-9B65-480C-A8A8-E4FA5A66DC9A}">
      <dgm:prSet/>
      <dgm:spPr/>
      <dgm:t>
        <a:bodyPr/>
        <a:lstStyle/>
        <a:p>
          <a:r>
            <a:rPr lang="en-US"/>
            <a:t>Network bandwidth is limited</a:t>
          </a:r>
        </a:p>
      </dgm:t>
    </dgm:pt>
    <dgm:pt modelId="{8E8A3D9D-03C8-4A63-A42A-CDC20BEFF402}" type="parTrans" cxnId="{55A840C8-BD16-4C74-98E1-FB64FB6DB99E}">
      <dgm:prSet/>
      <dgm:spPr/>
      <dgm:t>
        <a:bodyPr/>
        <a:lstStyle/>
        <a:p>
          <a:endParaRPr lang="en-US"/>
        </a:p>
      </dgm:t>
    </dgm:pt>
    <dgm:pt modelId="{EEB2883F-217F-4CA7-BF76-E52A5CB361A8}" type="sibTrans" cxnId="{55A840C8-BD16-4C74-98E1-FB64FB6DB99E}">
      <dgm:prSet/>
      <dgm:spPr/>
      <dgm:t>
        <a:bodyPr/>
        <a:lstStyle/>
        <a:p>
          <a:endParaRPr lang="en-US"/>
        </a:p>
      </dgm:t>
    </dgm:pt>
    <dgm:pt modelId="{BCDF4CB8-F340-436F-B91E-4D463805E63D}" type="pres">
      <dgm:prSet presAssocID="{C754839C-E9B9-4EFF-8878-5D9D4AE4EDEB}" presName="root" presStyleCnt="0">
        <dgm:presLayoutVars>
          <dgm:dir/>
          <dgm:resizeHandles val="exact"/>
        </dgm:presLayoutVars>
      </dgm:prSet>
      <dgm:spPr/>
    </dgm:pt>
    <dgm:pt modelId="{445C8A84-D4A7-4D2A-9577-135F771C4739}" type="pres">
      <dgm:prSet presAssocID="{893AA754-C368-4F18-AA2E-161C24624523}" presName="compNode" presStyleCnt="0"/>
      <dgm:spPr/>
    </dgm:pt>
    <dgm:pt modelId="{951519E1-A71C-4DAD-B5E6-44C74CA7ECEC}" type="pres">
      <dgm:prSet presAssocID="{893AA754-C368-4F18-AA2E-161C24624523}" presName="bgRect" presStyleLbl="bgShp" presStyleIdx="0" presStyleCnt="2"/>
      <dgm:spPr/>
    </dgm:pt>
    <dgm:pt modelId="{39967201-2B17-4C32-8D31-4795F2309A05}" type="pres">
      <dgm:prSet presAssocID="{893AA754-C368-4F18-AA2E-161C2462452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3F407C8-C492-4D8A-9E7D-A340C3F08937}" type="pres">
      <dgm:prSet presAssocID="{893AA754-C368-4F18-AA2E-161C24624523}" presName="spaceRect" presStyleCnt="0"/>
      <dgm:spPr/>
    </dgm:pt>
    <dgm:pt modelId="{7BF3B5DE-7B97-459A-BB55-9A9B1F050EB9}" type="pres">
      <dgm:prSet presAssocID="{893AA754-C368-4F18-AA2E-161C24624523}" presName="parTx" presStyleLbl="revTx" presStyleIdx="0" presStyleCnt="2">
        <dgm:presLayoutVars>
          <dgm:chMax val="0"/>
          <dgm:chPref val="0"/>
        </dgm:presLayoutVars>
      </dgm:prSet>
      <dgm:spPr/>
    </dgm:pt>
    <dgm:pt modelId="{7770882F-610E-4A0D-93D2-7B82688E3581}" type="pres">
      <dgm:prSet presAssocID="{CC66FC85-3090-4F3E-918D-08530D9AB294}" presName="sibTrans" presStyleCnt="0"/>
      <dgm:spPr/>
    </dgm:pt>
    <dgm:pt modelId="{1A7EC85F-8188-4801-B244-AB6807123893}" type="pres">
      <dgm:prSet presAssocID="{05FDB960-9B65-480C-A8A8-E4FA5A66DC9A}" presName="compNode" presStyleCnt="0"/>
      <dgm:spPr/>
    </dgm:pt>
    <dgm:pt modelId="{2332F5E7-40C8-4284-A358-D4BA6ECA9F4A}" type="pres">
      <dgm:prSet presAssocID="{05FDB960-9B65-480C-A8A8-E4FA5A66DC9A}" presName="bgRect" presStyleLbl="bgShp" presStyleIdx="1" presStyleCnt="2"/>
      <dgm:spPr/>
    </dgm:pt>
    <dgm:pt modelId="{066BAC1F-A8E6-4983-BFDC-ED0257283C71}" type="pres">
      <dgm:prSet presAssocID="{05FDB960-9B65-480C-A8A8-E4FA5A66DC9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051BFC0-8C1D-4E96-A9BF-3D3114469888}" type="pres">
      <dgm:prSet presAssocID="{05FDB960-9B65-480C-A8A8-E4FA5A66DC9A}" presName="spaceRect" presStyleCnt="0"/>
      <dgm:spPr/>
    </dgm:pt>
    <dgm:pt modelId="{5129B93F-C984-47EC-9898-D45B5551CFF5}" type="pres">
      <dgm:prSet presAssocID="{05FDB960-9B65-480C-A8A8-E4FA5A66DC9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7A62B18-1966-4690-B67B-9CDCE8D0EF81}" type="presOf" srcId="{C754839C-E9B9-4EFF-8878-5D9D4AE4EDEB}" destId="{BCDF4CB8-F340-436F-B91E-4D463805E63D}" srcOrd="0" destOrd="0" presId="urn:microsoft.com/office/officeart/2018/2/layout/IconVerticalSolidList"/>
    <dgm:cxn modelId="{BAFD9E8A-108A-4F5B-87A3-ADED3D00A6E8}" srcId="{C754839C-E9B9-4EFF-8878-5D9D4AE4EDEB}" destId="{893AA754-C368-4F18-AA2E-161C24624523}" srcOrd="0" destOrd="0" parTransId="{0EDE8356-65C9-49E3-8ADF-7180397F869E}" sibTransId="{CC66FC85-3090-4F3E-918D-08530D9AB294}"/>
    <dgm:cxn modelId="{9A775CA9-A26F-4C81-B278-D782766B5888}" type="presOf" srcId="{893AA754-C368-4F18-AA2E-161C24624523}" destId="{7BF3B5DE-7B97-459A-BB55-9A9B1F050EB9}" srcOrd="0" destOrd="0" presId="urn:microsoft.com/office/officeart/2018/2/layout/IconVerticalSolidList"/>
    <dgm:cxn modelId="{55A840C8-BD16-4C74-98E1-FB64FB6DB99E}" srcId="{C754839C-E9B9-4EFF-8878-5D9D4AE4EDEB}" destId="{05FDB960-9B65-480C-A8A8-E4FA5A66DC9A}" srcOrd="1" destOrd="0" parTransId="{8E8A3D9D-03C8-4A63-A42A-CDC20BEFF402}" sibTransId="{EEB2883F-217F-4CA7-BF76-E52A5CB361A8}"/>
    <dgm:cxn modelId="{03C872F2-C02D-40BF-AC03-9109D2541B77}" type="presOf" srcId="{05FDB960-9B65-480C-A8A8-E4FA5A66DC9A}" destId="{5129B93F-C984-47EC-9898-D45B5551CFF5}" srcOrd="0" destOrd="0" presId="urn:microsoft.com/office/officeart/2018/2/layout/IconVerticalSolidList"/>
    <dgm:cxn modelId="{F17CFA2A-AE4C-4497-8664-267D674F1B86}" type="presParOf" srcId="{BCDF4CB8-F340-436F-B91E-4D463805E63D}" destId="{445C8A84-D4A7-4D2A-9577-135F771C4739}" srcOrd="0" destOrd="0" presId="urn:microsoft.com/office/officeart/2018/2/layout/IconVerticalSolidList"/>
    <dgm:cxn modelId="{5F3731E4-1192-494E-BDF3-5C391B3AD91A}" type="presParOf" srcId="{445C8A84-D4A7-4D2A-9577-135F771C4739}" destId="{951519E1-A71C-4DAD-B5E6-44C74CA7ECEC}" srcOrd="0" destOrd="0" presId="urn:microsoft.com/office/officeart/2018/2/layout/IconVerticalSolidList"/>
    <dgm:cxn modelId="{5E5C14C6-7C3C-4347-8E80-E2B82AA1A2C1}" type="presParOf" srcId="{445C8A84-D4A7-4D2A-9577-135F771C4739}" destId="{39967201-2B17-4C32-8D31-4795F2309A05}" srcOrd="1" destOrd="0" presId="urn:microsoft.com/office/officeart/2018/2/layout/IconVerticalSolidList"/>
    <dgm:cxn modelId="{F97D426B-E31D-4C25-B938-655AD5F384A0}" type="presParOf" srcId="{445C8A84-D4A7-4D2A-9577-135F771C4739}" destId="{03F407C8-C492-4D8A-9E7D-A340C3F08937}" srcOrd="2" destOrd="0" presId="urn:microsoft.com/office/officeart/2018/2/layout/IconVerticalSolidList"/>
    <dgm:cxn modelId="{E77FB4E8-3AC0-4DE3-B355-89F5224B9409}" type="presParOf" srcId="{445C8A84-D4A7-4D2A-9577-135F771C4739}" destId="{7BF3B5DE-7B97-459A-BB55-9A9B1F050EB9}" srcOrd="3" destOrd="0" presId="urn:microsoft.com/office/officeart/2018/2/layout/IconVerticalSolidList"/>
    <dgm:cxn modelId="{D2D0A81C-76EE-4301-95A2-B65A1086A0C7}" type="presParOf" srcId="{BCDF4CB8-F340-436F-B91E-4D463805E63D}" destId="{7770882F-610E-4A0D-93D2-7B82688E3581}" srcOrd="1" destOrd="0" presId="urn:microsoft.com/office/officeart/2018/2/layout/IconVerticalSolidList"/>
    <dgm:cxn modelId="{05547466-3BFA-4BEE-ADC1-1148F7D38DA3}" type="presParOf" srcId="{BCDF4CB8-F340-436F-B91E-4D463805E63D}" destId="{1A7EC85F-8188-4801-B244-AB6807123893}" srcOrd="2" destOrd="0" presId="urn:microsoft.com/office/officeart/2018/2/layout/IconVerticalSolidList"/>
    <dgm:cxn modelId="{779A1A42-76A7-4EC9-9149-D12441ABA8C2}" type="presParOf" srcId="{1A7EC85F-8188-4801-B244-AB6807123893}" destId="{2332F5E7-40C8-4284-A358-D4BA6ECA9F4A}" srcOrd="0" destOrd="0" presId="urn:microsoft.com/office/officeart/2018/2/layout/IconVerticalSolidList"/>
    <dgm:cxn modelId="{AFECB896-6A18-48BB-8E61-BD9F6ECF211D}" type="presParOf" srcId="{1A7EC85F-8188-4801-B244-AB6807123893}" destId="{066BAC1F-A8E6-4983-BFDC-ED0257283C71}" srcOrd="1" destOrd="0" presId="urn:microsoft.com/office/officeart/2018/2/layout/IconVerticalSolidList"/>
    <dgm:cxn modelId="{DBF9F54E-FF8F-4D66-B6D7-C3D44C66E30A}" type="presParOf" srcId="{1A7EC85F-8188-4801-B244-AB6807123893}" destId="{4051BFC0-8C1D-4E96-A9BF-3D3114469888}" srcOrd="2" destOrd="0" presId="urn:microsoft.com/office/officeart/2018/2/layout/IconVerticalSolidList"/>
    <dgm:cxn modelId="{E3B2C916-650E-4ACB-AA16-0AE4232C46C1}" type="presParOf" srcId="{1A7EC85F-8188-4801-B244-AB6807123893}" destId="{5129B93F-C984-47EC-9898-D45B5551CF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519E1-A71C-4DAD-B5E6-44C74CA7ECEC}">
      <dsp:nvSpPr>
        <dsp:cNvPr id="0" name=""/>
        <dsp:cNvSpPr/>
      </dsp:nvSpPr>
      <dsp:spPr>
        <a:xfrm>
          <a:off x="0" y="637888"/>
          <a:ext cx="10405174" cy="11776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67201-2B17-4C32-8D31-4795F2309A05}">
      <dsp:nvSpPr>
        <dsp:cNvPr id="0" name=""/>
        <dsp:cNvSpPr/>
      </dsp:nvSpPr>
      <dsp:spPr>
        <a:xfrm>
          <a:off x="356236" y="902857"/>
          <a:ext cx="647702" cy="6477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3B5DE-7B97-459A-BB55-9A9B1F050EB9}">
      <dsp:nvSpPr>
        <dsp:cNvPr id="0" name=""/>
        <dsp:cNvSpPr/>
      </dsp:nvSpPr>
      <dsp:spPr>
        <a:xfrm>
          <a:off x="1360174" y="637888"/>
          <a:ext cx="9044999" cy="117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634" tIns="124634" rIns="124634" bIns="1246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Moving data to computation nodes is hard</a:t>
          </a:r>
        </a:p>
      </dsp:txBody>
      <dsp:txXfrm>
        <a:off x="1360174" y="637888"/>
        <a:ext cx="9044999" cy="1177640"/>
      </dsp:txXfrm>
    </dsp:sp>
    <dsp:sp modelId="{2332F5E7-40C8-4284-A358-D4BA6ECA9F4A}">
      <dsp:nvSpPr>
        <dsp:cNvPr id="0" name=""/>
        <dsp:cNvSpPr/>
      </dsp:nvSpPr>
      <dsp:spPr>
        <a:xfrm>
          <a:off x="0" y="2109938"/>
          <a:ext cx="10405174" cy="11776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BAC1F-A8E6-4983-BFDC-ED0257283C71}">
      <dsp:nvSpPr>
        <dsp:cNvPr id="0" name=""/>
        <dsp:cNvSpPr/>
      </dsp:nvSpPr>
      <dsp:spPr>
        <a:xfrm>
          <a:off x="356236" y="2374907"/>
          <a:ext cx="647702" cy="6477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9B93F-C984-47EC-9898-D45B5551CFF5}">
      <dsp:nvSpPr>
        <dsp:cNvPr id="0" name=""/>
        <dsp:cNvSpPr/>
      </dsp:nvSpPr>
      <dsp:spPr>
        <a:xfrm>
          <a:off x="1360174" y="2109938"/>
          <a:ext cx="9044999" cy="117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634" tIns="124634" rIns="124634" bIns="1246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Network bandwidth is limited</a:t>
          </a:r>
        </a:p>
      </dsp:txBody>
      <dsp:txXfrm>
        <a:off x="1360174" y="2109938"/>
        <a:ext cx="9044999" cy="1177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11/15/2024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631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733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274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821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2171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8907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3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30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1" name="Google Shape;41;p3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30"/>
          <p:cNvSpPr txBox="1">
            <a:spLocks noGrp="1"/>
          </p:cNvSpPr>
          <p:nvPr>
            <p:ph type="title"/>
          </p:nvPr>
        </p:nvSpPr>
        <p:spPr>
          <a:xfrm>
            <a:off x="972600" y="762567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330"/>
          <p:cNvSpPr txBox="1">
            <a:spLocks noGrp="1"/>
          </p:cNvSpPr>
          <p:nvPr>
            <p:ph type="body" idx="1"/>
          </p:nvPr>
        </p:nvSpPr>
        <p:spPr>
          <a:xfrm>
            <a:off x="972600" y="1978267"/>
            <a:ext cx="10251600" cy="38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3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67522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  <p:sldLayoutId id="214748370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kkowarsc@uci.ed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eunixschool.com/2012/08/linux-sort-command-example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CI-DCE/Data-Engineering/blob/Big-Data/M3%20-%20Advanced%20MR%20Concepts%20and%20Hadoop%202.0.pdf" TargetMode="Externa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ifference-between-hadoop-1-and-hadoop-2/" TargetMode="External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hyperlink" Target="https://dytvr9ot2sszz.cloudfront.net/wp-content/uploads/2019/08/img.jpg" TargetMode="Externa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phoenixnap.com/kb/hadoop-vs-spark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/>
              <a:t>Day One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Course Introduction</a:t>
            </a:r>
          </a:p>
          <a:p>
            <a:r>
              <a:rPr lang="en-US" dirty="0"/>
              <a:t>Learning outcomes</a:t>
            </a:r>
          </a:p>
          <a:p>
            <a:r>
              <a:rPr lang="en-US" dirty="0"/>
              <a:t>Assignments and expectations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Intro to Big Data Management Fabric</a:t>
            </a:r>
          </a:p>
          <a:p>
            <a:r>
              <a:rPr lang="en-US" dirty="0"/>
              <a:t>Hadoop</a:t>
            </a:r>
          </a:p>
          <a:p>
            <a:r>
              <a:rPr lang="en-US" dirty="0"/>
              <a:t>Spark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Course Intro: </a:t>
            </a:r>
            <a:br>
              <a:rPr lang="en-US" dirty="0"/>
            </a:br>
            <a:r>
              <a:rPr lang="en-US" b="0" dirty="0"/>
              <a:t>Syllabus</a:t>
            </a:r>
            <a:endParaRPr lang="en-ZA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499616"/>
            <a:ext cx="10171177" cy="4066032"/>
          </a:xfrm>
        </p:spPr>
        <p:txBody>
          <a:bodyPr/>
          <a:lstStyle/>
          <a:p>
            <a:r>
              <a:rPr lang="en-US" dirty="0"/>
              <a:t>Day 1 : Key concepts</a:t>
            </a:r>
          </a:p>
          <a:p>
            <a:r>
              <a:rPr lang="en-US" dirty="0"/>
              <a:t>Day 2:  Hadoop</a:t>
            </a:r>
          </a:p>
          <a:p>
            <a:pPr lvl="1"/>
            <a:r>
              <a:rPr lang="en-US" dirty="0"/>
              <a:t>Hadoop Distributed File System (HDFS)</a:t>
            </a:r>
          </a:p>
          <a:p>
            <a:pPr lvl="1"/>
            <a:r>
              <a:rPr lang="en-US" dirty="0"/>
              <a:t>MapReduce</a:t>
            </a:r>
          </a:p>
          <a:p>
            <a:pPr lvl="1"/>
            <a:r>
              <a:rPr lang="en-US" dirty="0"/>
              <a:t>HDFS commands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Day 3: YARN</a:t>
            </a:r>
          </a:p>
          <a:p>
            <a:r>
              <a:rPr lang="en-US" dirty="0"/>
              <a:t>Day 4: Spark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Syllabus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499616"/>
            <a:ext cx="10171177" cy="4066032"/>
          </a:xfrm>
        </p:spPr>
        <p:txBody>
          <a:bodyPr/>
          <a:lstStyle/>
          <a:p>
            <a:r>
              <a:rPr lang="en-US" dirty="0"/>
              <a:t>Day 5: Apache Spark</a:t>
            </a:r>
          </a:p>
          <a:p>
            <a:pPr lvl="1"/>
            <a:r>
              <a:rPr lang="en-US" dirty="0"/>
              <a:t>Resilient Distributed Dataset (RDD)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Day 6: Spark SQL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Day 7: Spark </a:t>
            </a:r>
            <a:r>
              <a:rPr lang="en-US" dirty="0" err="1"/>
              <a:t>MLlib</a:t>
            </a:r>
            <a:endParaRPr lang="en-US" dirty="0"/>
          </a:p>
          <a:p>
            <a:endParaRPr lang="en-US" dirty="0"/>
          </a:p>
          <a:p>
            <a:r>
              <a:rPr lang="en-US" dirty="0"/>
              <a:t>Day 8: Spark Streaming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02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Learning Outcome: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2363152"/>
            <a:ext cx="10171177" cy="4066032"/>
          </a:xfrm>
        </p:spPr>
        <p:txBody>
          <a:bodyPr/>
          <a:lstStyle/>
          <a:p>
            <a:r>
              <a:rPr lang="en-US" dirty="0"/>
              <a:t>To gain understanding of the characteristic of big data.</a:t>
            </a:r>
          </a:p>
          <a:p>
            <a:r>
              <a:rPr lang="en-US" dirty="0"/>
              <a:t>To know techniques for working on big data platforms.</a:t>
            </a:r>
          </a:p>
          <a:p>
            <a:r>
              <a:rPr lang="en-US" dirty="0"/>
              <a:t>To have some experiences of performing common techniques.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92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Assignments:</a:t>
            </a:r>
            <a:br>
              <a:rPr lang="en-US" dirty="0"/>
            </a:br>
            <a:r>
              <a:rPr lang="en-US" b="0" dirty="0"/>
              <a:t>Grading</a:t>
            </a:r>
            <a:endParaRPr lang="en-ZA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2039112"/>
            <a:ext cx="10052304" cy="1389888"/>
          </a:xfrm>
        </p:spPr>
        <p:txBody>
          <a:bodyPr/>
          <a:lstStyle/>
          <a:p>
            <a:r>
              <a:rPr lang="en-US" dirty="0"/>
              <a:t>ALL assignments are due </a:t>
            </a:r>
            <a:r>
              <a:rPr lang="en-US" b="1" dirty="0"/>
              <a:t> Nov 31, 2024, 11:59 PM, PST. </a:t>
            </a:r>
            <a:r>
              <a:rPr lang="en-US" dirty="0"/>
              <a:t>(Note: </a:t>
            </a:r>
            <a:r>
              <a:rPr lang="en-US" u="sng" dirty="0"/>
              <a:t>Any late submission after the due will lead to a 10% deduction on each late submission</a:t>
            </a:r>
            <a:r>
              <a:rPr lang="en-US" dirty="0"/>
              <a:t>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50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0"/>
            <a:ext cx="8297380" cy="1326514"/>
          </a:xfrm>
        </p:spPr>
        <p:txBody>
          <a:bodyPr/>
          <a:lstStyle/>
          <a:p>
            <a:r>
              <a:rPr lang="en-US" dirty="0"/>
              <a:t>Attendance:</a:t>
            </a:r>
            <a:br>
              <a:rPr lang="en-US" dirty="0"/>
            </a:br>
            <a:endParaRPr lang="en-ZA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335" y="2180590"/>
            <a:ext cx="10171177" cy="4066032"/>
          </a:xfrm>
        </p:spPr>
        <p:txBody>
          <a:bodyPr/>
          <a:lstStyle/>
          <a:p>
            <a:r>
              <a:rPr lang="en-US" dirty="0"/>
              <a:t>I update the attendance sheet periodically. Email me at </a:t>
            </a:r>
            <a:r>
              <a:rPr lang="en-US" dirty="0">
                <a:hlinkClick r:id="rId2"/>
              </a:rPr>
              <a:t>kkowarsc@uci.edu</a:t>
            </a:r>
            <a:r>
              <a:rPr lang="en-US" dirty="0"/>
              <a:t> and the school’s department for sick absences or emergency events.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7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Big Data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How large can our dataset be?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12834" y="2100707"/>
            <a:ext cx="7975917" cy="3687763"/>
          </a:xfrm>
        </p:spPr>
        <p:txBody>
          <a:bodyPr/>
          <a:lstStyle/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dirty="0"/>
              <a:t>Enron SPAM Data (100k articles)</a:t>
            </a:r>
          </a:p>
          <a:p>
            <a:pPr marL="698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</a:pPr>
            <a:endParaRPr lang="en-US" dirty="0"/>
          </a:p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dirty="0"/>
              <a:t>Google </a:t>
            </a:r>
            <a:r>
              <a:rPr lang="en-US" dirty="0" err="1"/>
              <a:t>ngram</a:t>
            </a:r>
            <a:r>
              <a:rPr lang="en-US" dirty="0"/>
              <a:t> corpus (2.2 GB)</a:t>
            </a:r>
          </a:p>
          <a:p>
            <a:pPr marL="698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</a:pPr>
            <a:endParaRPr lang="en-US" dirty="0"/>
          </a:p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dirty="0"/>
              <a:t>Wikipedia graph (2 GB)</a:t>
            </a:r>
          </a:p>
          <a:p>
            <a:pPr marL="698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</a:pPr>
            <a:endParaRPr lang="en-US" dirty="0"/>
          </a:p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dirty="0"/>
              <a:t>$100 Billion problem (Click-through rate or CTR) prediction (20-30 GB) </a:t>
            </a:r>
          </a:p>
          <a:p>
            <a:pPr marL="698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</a:pPr>
            <a:endParaRPr lang="en-US" dirty="0"/>
          </a:p>
          <a:p>
            <a:pPr marL="3429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-US" dirty="0"/>
              <a:t>Airlines and Weather - predicting delays (20-40GB)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823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How large can our data be?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494EB-E896-53C3-8DED-8A4A5E183BFA}"/>
              </a:ext>
            </a:extLst>
          </p:cNvPr>
          <p:cNvSpPr txBox="1"/>
          <p:nvPr/>
        </p:nvSpPr>
        <p:spPr>
          <a:xfrm>
            <a:off x="707610" y="2136338"/>
            <a:ext cx="37499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Assumption:</a:t>
            </a:r>
          </a:p>
          <a:p>
            <a:r>
              <a:rPr lang="en-US" dirty="0"/>
              <a:t>Your personal laptop has the following features”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Storage: 1TB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RAM: 16GB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Inteli7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Your task is working on a dataset of 20GB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72C2B-686F-1DB3-DEFA-99E840AF9C4F}"/>
              </a:ext>
            </a:extLst>
          </p:cNvPr>
          <p:cNvSpPr txBox="1"/>
          <p:nvPr/>
        </p:nvSpPr>
        <p:spPr>
          <a:xfrm>
            <a:off x="4974336" y="1645920"/>
            <a:ext cx="6320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it is O(n): about 33 minutes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348B55-7A26-E05D-AAB4-9FF7C13B0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751003"/>
              </p:ext>
            </p:extLst>
          </p:nvPr>
        </p:nvGraphicFramePr>
        <p:xfrm>
          <a:off x="4656328" y="2575683"/>
          <a:ext cx="5877560" cy="268247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38780">
                  <a:extLst>
                    <a:ext uri="{9D8B030D-6E8A-4147-A177-3AD203B41FA5}">
                      <a16:colId xmlns:a16="http://schemas.microsoft.com/office/drawing/2014/main" val="1124186471"/>
                    </a:ext>
                  </a:extLst>
                </a:gridCol>
                <a:gridCol w="2938780">
                  <a:extLst>
                    <a:ext uri="{9D8B030D-6E8A-4147-A177-3AD203B41FA5}">
                      <a16:colId xmlns:a16="http://schemas.microsoft.com/office/drawing/2014/main" val="3303199479"/>
                    </a:ext>
                  </a:extLst>
                </a:gridCol>
              </a:tblGrid>
              <a:tr h="536494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978564"/>
                  </a:ext>
                </a:extLst>
              </a:tr>
              <a:tr h="536494"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722484"/>
                  </a:ext>
                </a:extLst>
              </a:tr>
              <a:tr h="536494">
                <a:tc>
                  <a:txBody>
                    <a:bodyPr/>
                    <a:lstStyle/>
                    <a:p>
                      <a:r>
                        <a:rPr lang="en-US" dirty="0"/>
                        <a:t>O(</a:t>
                      </a:r>
                      <a:r>
                        <a:rPr lang="en-US" dirty="0" err="1"/>
                        <a:t>nlogn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522656"/>
                  </a:ext>
                </a:extLst>
              </a:tr>
              <a:tr h="536494">
                <a:tc>
                  <a:txBody>
                    <a:bodyPr/>
                    <a:lstStyle/>
                    <a:p>
                      <a:r>
                        <a:rPr lang="en-US" dirty="0"/>
                        <a:t>O(n^2)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535179"/>
                  </a:ext>
                </a:extLst>
              </a:tr>
              <a:tr h="536494">
                <a:tc>
                  <a:txBody>
                    <a:bodyPr/>
                    <a:lstStyle/>
                    <a:p>
                      <a:r>
                        <a:rPr lang="en-US" dirty="0"/>
                        <a:t>O(2^n)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340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746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45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How large can our data be?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FEC75BD-02B2-71AB-51F9-FA755E9B7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80092" y="6110017"/>
            <a:ext cx="8453212" cy="10034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Inefficient algorithms are usually Naïve Modeling with nested loops.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F2CAF-26D7-883E-2680-C56DEB09459B}"/>
              </a:ext>
            </a:extLst>
          </p:cNvPr>
          <p:cNvSpPr txBox="1"/>
          <p:nvPr/>
        </p:nvSpPr>
        <p:spPr>
          <a:xfrm>
            <a:off x="3246662" y="1722307"/>
            <a:ext cx="64185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</a:t>
            </a:r>
            <a:r>
              <a:rPr lang="en-US" dirty="0"/>
              <a:t> </a:t>
            </a:r>
            <a:r>
              <a:rPr lang="en-US" dirty="0" err="1"/>
              <a:t>bubble_sort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):</a:t>
            </a:r>
          </a:p>
          <a:p>
            <a:r>
              <a:rPr lang="en-US" dirty="0"/>
              <a:t>    n =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b="1" dirty="0"/>
              <a:t>for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in range(n):</a:t>
            </a:r>
          </a:p>
          <a:p>
            <a:r>
              <a:rPr lang="en-US" dirty="0"/>
              <a:t>        # Last </a:t>
            </a:r>
            <a:r>
              <a:rPr lang="en-US" dirty="0" err="1"/>
              <a:t>i</a:t>
            </a:r>
            <a:r>
              <a:rPr lang="en-US" dirty="0"/>
              <a:t> elements are already in place</a:t>
            </a:r>
          </a:p>
          <a:p>
            <a:r>
              <a:rPr lang="en-US" dirty="0"/>
              <a:t>        </a:t>
            </a:r>
            <a:r>
              <a:rPr lang="en-US" b="1" dirty="0"/>
              <a:t>for</a:t>
            </a:r>
            <a:r>
              <a:rPr lang="en-US" dirty="0"/>
              <a:t> j in range(0, n-i-1):</a:t>
            </a:r>
          </a:p>
          <a:p>
            <a:r>
              <a:rPr lang="en-US" dirty="0"/>
              <a:t>            # Swap if the element found is greater than the next element</a:t>
            </a:r>
          </a:p>
          <a:p>
            <a:r>
              <a:rPr lang="en-US" dirty="0"/>
              <a:t>            if </a:t>
            </a:r>
            <a:r>
              <a:rPr lang="en-US" dirty="0" err="1"/>
              <a:t>arr</a:t>
            </a:r>
            <a:r>
              <a:rPr lang="en-US" dirty="0"/>
              <a:t>[j] &gt; </a:t>
            </a:r>
            <a:r>
              <a:rPr lang="en-US" dirty="0" err="1"/>
              <a:t>arr</a:t>
            </a:r>
            <a:r>
              <a:rPr lang="en-US" dirty="0"/>
              <a:t>[j+1]:</a:t>
            </a:r>
          </a:p>
          <a:p>
            <a:r>
              <a:rPr lang="en-US" dirty="0"/>
              <a:t>                </a:t>
            </a:r>
            <a:r>
              <a:rPr lang="en-US" dirty="0" err="1"/>
              <a:t>arr</a:t>
            </a:r>
            <a:r>
              <a:rPr lang="en-US" dirty="0"/>
              <a:t>[j], </a:t>
            </a:r>
            <a:r>
              <a:rPr lang="en-US" dirty="0" err="1"/>
              <a:t>arr</a:t>
            </a:r>
            <a:r>
              <a:rPr lang="en-US" dirty="0"/>
              <a:t>[j+1] = </a:t>
            </a:r>
            <a:r>
              <a:rPr lang="en-US" dirty="0" err="1"/>
              <a:t>arr</a:t>
            </a:r>
            <a:r>
              <a:rPr lang="en-US" dirty="0"/>
              <a:t>[j+1], </a:t>
            </a:r>
            <a:r>
              <a:rPr lang="en-US" dirty="0" err="1"/>
              <a:t>arr</a:t>
            </a:r>
            <a:r>
              <a:rPr lang="en-US" dirty="0"/>
              <a:t>[j]</a:t>
            </a:r>
          </a:p>
          <a:p>
            <a:endParaRPr lang="en-US" dirty="0"/>
          </a:p>
          <a:p>
            <a:r>
              <a:rPr lang="en-US" dirty="0" err="1"/>
              <a:t>arr</a:t>
            </a:r>
            <a:r>
              <a:rPr lang="en-US" dirty="0"/>
              <a:t> = [64, 34, 25, 12, 22, 11, 90]</a:t>
            </a:r>
          </a:p>
          <a:p>
            <a:r>
              <a:rPr lang="en-US" dirty="0" err="1"/>
              <a:t>bubble_sort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r>
              <a:rPr lang="en-US" dirty="0"/>
              <a:t>print("Sorted array:", 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complexity: O(n^2)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92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How large can our data be?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494EB-E896-53C3-8DED-8A4A5E183BFA}"/>
              </a:ext>
            </a:extLst>
          </p:cNvPr>
          <p:cNvSpPr txBox="1"/>
          <p:nvPr/>
        </p:nvSpPr>
        <p:spPr>
          <a:xfrm>
            <a:off x="498764" y="2401454"/>
            <a:ext cx="4173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algorithm with an exponential runtime complexity of O(2^n) is generating all subset of a set.</a:t>
            </a:r>
          </a:p>
          <a:p>
            <a:endParaRPr lang="en-US" dirty="0"/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algorithm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F2CAF-26D7-883E-2680-C56DEB09459B}"/>
              </a:ext>
            </a:extLst>
          </p:cNvPr>
          <p:cNvSpPr txBox="1"/>
          <p:nvPr/>
        </p:nvSpPr>
        <p:spPr>
          <a:xfrm>
            <a:off x="5142248" y="1922107"/>
            <a:ext cx="6418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 </a:t>
            </a:r>
            <a:r>
              <a:rPr lang="en-US" dirty="0" err="1"/>
              <a:t>generate_subsets</a:t>
            </a:r>
            <a:r>
              <a:rPr lang="en-US" dirty="0"/>
              <a:t>(s):</a:t>
            </a:r>
          </a:p>
          <a:p>
            <a:r>
              <a:rPr lang="en-US" dirty="0"/>
              <a:t>    if </a:t>
            </a:r>
            <a:r>
              <a:rPr lang="en-US" dirty="0" err="1"/>
              <a:t>len</a:t>
            </a:r>
            <a:r>
              <a:rPr lang="en-US" dirty="0"/>
              <a:t>(s) == 0:</a:t>
            </a:r>
          </a:p>
          <a:p>
            <a:r>
              <a:rPr lang="en-US" dirty="0"/>
              <a:t>        return [[]]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 err="1"/>
              <a:t>subsets_without_first</a:t>
            </a:r>
            <a:r>
              <a:rPr lang="en-US" dirty="0"/>
              <a:t> = </a:t>
            </a:r>
            <a:r>
              <a:rPr lang="en-US" b="1" dirty="0" err="1"/>
              <a:t>generate_subsets</a:t>
            </a:r>
            <a:r>
              <a:rPr lang="en-US" dirty="0"/>
              <a:t>(s[1:])</a:t>
            </a:r>
          </a:p>
          <a:p>
            <a:r>
              <a:rPr lang="en-US" dirty="0"/>
              <a:t>    </a:t>
            </a:r>
            <a:r>
              <a:rPr lang="en-US" dirty="0" err="1"/>
              <a:t>subsets_with_first</a:t>
            </a:r>
            <a:r>
              <a:rPr lang="en-US" dirty="0"/>
              <a:t> = [[s[0]] + subset for subset in    </a:t>
            </a:r>
          </a:p>
          <a:p>
            <a:r>
              <a:rPr lang="en-US" dirty="0"/>
              <a:t>    </a:t>
            </a:r>
            <a:r>
              <a:rPr lang="en-US" dirty="0" err="1"/>
              <a:t>subsets_without_first</a:t>
            </a:r>
            <a:r>
              <a:rPr lang="en-US" dirty="0"/>
              <a:t>]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return </a:t>
            </a:r>
            <a:r>
              <a:rPr lang="en-US" dirty="0" err="1"/>
              <a:t>subsets_without_first</a:t>
            </a:r>
            <a:r>
              <a:rPr lang="en-US" dirty="0"/>
              <a:t> + </a:t>
            </a:r>
            <a:r>
              <a:rPr lang="en-US" dirty="0" err="1"/>
              <a:t>subsets_with_first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my_set</a:t>
            </a:r>
            <a:r>
              <a:rPr lang="en-US" dirty="0"/>
              <a:t> = [1, 2, 3]</a:t>
            </a:r>
          </a:p>
          <a:p>
            <a:r>
              <a:rPr lang="en-US" dirty="0"/>
              <a:t>subsets = </a:t>
            </a:r>
            <a:r>
              <a:rPr lang="en-US" dirty="0" err="1"/>
              <a:t>generate_subsets</a:t>
            </a:r>
            <a:r>
              <a:rPr lang="en-US" dirty="0"/>
              <a:t>(</a:t>
            </a:r>
            <a:r>
              <a:rPr lang="en-US" dirty="0" err="1"/>
              <a:t>my_set</a:t>
            </a:r>
            <a:r>
              <a:rPr lang="en-US" dirty="0"/>
              <a:t>)</a:t>
            </a:r>
          </a:p>
          <a:p>
            <a:r>
              <a:rPr lang="en-US" dirty="0"/>
              <a:t>print(subsets)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74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How large can our data be?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494EB-E896-53C3-8DED-8A4A5E183BFA}"/>
              </a:ext>
            </a:extLst>
          </p:cNvPr>
          <p:cNvSpPr txBox="1"/>
          <p:nvPr/>
        </p:nvSpPr>
        <p:spPr>
          <a:xfrm>
            <a:off x="1100871" y="2297011"/>
            <a:ext cx="4173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Fibonacci sequence using naïve modeling approach.</a:t>
            </a:r>
          </a:p>
          <a:p>
            <a:endParaRPr lang="en-US" dirty="0"/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algorithm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F2CAF-26D7-883E-2680-C56DEB09459B}"/>
              </a:ext>
            </a:extLst>
          </p:cNvPr>
          <p:cNvSpPr txBox="1"/>
          <p:nvPr/>
        </p:nvSpPr>
        <p:spPr>
          <a:xfrm>
            <a:off x="5274690" y="2297011"/>
            <a:ext cx="64185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</a:t>
            </a:r>
            <a:r>
              <a:rPr lang="en-US" dirty="0"/>
              <a:t> </a:t>
            </a:r>
            <a:r>
              <a:rPr lang="en-US" dirty="0" err="1"/>
              <a:t>fibonacci</a:t>
            </a:r>
            <a:r>
              <a:rPr lang="en-US" dirty="0"/>
              <a:t>(n):</a:t>
            </a:r>
          </a:p>
          <a:p>
            <a:r>
              <a:rPr lang="en-US" dirty="0"/>
              <a:t>    if n &lt;= 1:</a:t>
            </a:r>
          </a:p>
          <a:p>
            <a:r>
              <a:rPr lang="en-US" dirty="0"/>
              <a:t>        return n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return </a:t>
            </a:r>
            <a:r>
              <a:rPr lang="en-US" b="1" dirty="0" err="1"/>
              <a:t>fibonacci</a:t>
            </a:r>
            <a:r>
              <a:rPr lang="en-US" dirty="0"/>
              <a:t>(n-1) + </a:t>
            </a:r>
            <a:r>
              <a:rPr lang="en-US" b="1" dirty="0" err="1"/>
              <a:t>fibonacci</a:t>
            </a:r>
            <a:r>
              <a:rPr lang="en-US" dirty="0"/>
              <a:t>(n-2)</a:t>
            </a:r>
          </a:p>
          <a:p>
            <a:endParaRPr lang="en-US" dirty="0"/>
          </a:p>
          <a:p>
            <a:r>
              <a:rPr lang="en-US" dirty="0"/>
              <a:t>result = </a:t>
            </a:r>
            <a:r>
              <a:rPr lang="en-US" dirty="0" err="1"/>
              <a:t>fibonacci</a:t>
            </a:r>
            <a:r>
              <a:rPr lang="en-US" dirty="0"/>
              <a:t>(5)</a:t>
            </a:r>
          </a:p>
          <a:p>
            <a:r>
              <a:rPr lang="en-US" dirty="0"/>
              <a:t>print(result)</a:t>
            </a:r>
          </a:p>
          <a:p>
            <a:endParaRPr lang="en-US" dirty="0"/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complexity: O(2^n)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89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How large can our data be?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494EB-E896-53C3-8DED-8A4A5E183BFA}"/>
              </a:ext>
            </a:extLst>
          </p:cNvPr>
          <p:cNvSpPr txBox="1"/>
          <p:nvPr/>
        </p:nvSpPr>
        <p:spPr>
          <a:xfrm>
            <a:off x="1100871" y="2297011"/>
            <a:ext cx="417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Fibonacci sequence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F2CAF-26D7-883E-2680-C56DEB09459B}"/>
              </a:ext>
            </a:extLst>
          </p:cNvPr>
          <p:cNvSpPr txBox="1"/>
          <p:nvPr/>
        </p:nvSpPr>
        <p:spPr>
          <a:xfrm>
            <a:off x="4879692" y="2181867"/>
            <a:ext cx="64185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</a:t>
            </a:r>
            <a:r>
              <a:rPr lang="en-US" dirty="0"/>
              <a:t> </a:t>
            </a:r>
            <a:r>
              <a:rPr lang="en-US" dirty="0" err="1"/>
              <a:t>fibonacci_generator</a:t>
            </a:r>
            <a:r>
              <a:rPr lang="en-US" dirty="0"/>
              <a:t>(n):</a:t>
            </a:r>
          </a:p>
          <a:p>
            <a:r>
              <a:rPr lang="en-US" dirty="0"/>
              <a:t>    a, b = 0, 1</a:t>
            </a:r>
          </a:p>
          <a:p>
            <a:r>
              <a:rPr lang="en-US" dirty="0"/>
              <a:t>    count = 0</a:t>
            </a:r>
          </a:p>
          <a:p>
            <a:r>
              <a:rPr lang="en-US" dirty="0"/>
              <a:t>    while count &lt; n:</a:t>
            </a:r>
          </a:p>
          <a:p>
            <a:r>
              <a:rPr lang="en-US" dirty="0"/>
              <a:t>        yield a</a:t>
            </a:r>
          </a:p>
          <a:p>
            <a:r>
              <a:rPr lang="en-US" dirty="0"/>
              <a:t>        a, b = b, a + b</a:t>
            </a:r>
          </a:p>
          <a:p>
            <a:r>
              <a:rPr lang="en-US" dirty="0"/>
              <a:t>        count += 1</a:t>
            </a:r>
          </a:p>
          <a:p>
            <a:endParaRPr lang="en-US" dirty="0"/>
          </a:p>
          <a:p>
            <a:r>
              <a:rPr lang="en-US" dirty="0"/>
              <a:t># Using the Fibonacci generator</a:t>
            </a:r>
          </a:p>
          <a:p>
            <a:r>
              <a:rPr lang="en-US" dirty="0" err="1"/>
              <a:t>fib_gen</a:t>
            </a:r>
            <a:r>
              <a:rPr lang="en-US" dirty="0"/>
              <a:t> = </a:t>
            </a:r>
            <a:r>
              <a:rPr lang="en-US" dirty="0" err="1"/>
              <a:t>fibonacci_generator</a:t>
            </a:r>
            <a:r>
              <a:rPr lang="en-US" dirty="0"/>
              <a:t>(5)</a:t>
            </a:r>
          </a:p>
          <a:p>
            <a:r>
              <a:rPr lang="en-US" dirty="0"/>
              <a:t>for num in </a:t>
            </a:r>
            <a:r>
              <a:rPr lang="en-US" dirty="0" err="1"/>
              <a:t>fib_gen</a:t>
            </a:r>
            <a:r>
              <a:rPr lang="en-US" dirty="0"/>
              <a:t>:</a:t>
            </a:r>
          </a:p>
          <a:p>
            <a:r>
              <a:rPr lang="en-US" dirty="0"/>
              <a:t>    print(num)</a:t>
            </a:r>
          </a:p>
          <a:p>
            <a:endParaRPr lang="en-US" dirty="0"/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complexity: O(n)</a:t>
            </a:r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911DF8-2D27-8377-C8E2-27C039E2CD14}"/>
              </a:ext>
            </a:extLst>
          </p:cNvPr>
          <p:cNvSpPr/>
          <p:nvPr/>
        </p:nvSpPr>
        <p:spPr>
          <a:xfrm>
            <a:off x="4879692" y="3081528"/>
            <a:ext cx="2499516" cy="1110130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sysDot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38310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617" y="1402228"/>
            <a:ext cx="6646765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How to deal with big data?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6DAAD-177F-1E65-2D5D-D5D01AA88CEF}"/>
              </a:ext>
            </a:extLst>
          </p:cNvPr>
          <p:cNvSpPr txBox="1"/>
          <p:nvPr/>
        </p:nvSpPr>
        <p:spPr>
          <a:xfrm>
            <a:off x="2657855" y="3324586"/>
            <a:ext cx="6876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 the traveling salesman problem: find out the shortest route that visits each city exactly once and returns to the original city. The naive brute-force approach is O(n!) or O(2^n)</a:t>
            </a:r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617" y="1402228"/>
            <a:ext cx="6646765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Parallelism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6DAAD-177F-1E65-2D5D-D5D01AA88CEF}"/>
              </a:ext>
            </a:extLst>
          </p:cNvPr>
          <p:cNvSpPr txBox="1"/>
          <p:nvPr/>
        </p:nvSpPr>
        <p:spPr>
          <a:xfrm>
            <a:off x="2772617" y="3429000"/>
            <a:ext cx="6876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Divide and Conquer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794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80" y="459296"/>
            <a:ext cx="6172200" cy="12496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Divide and Conquer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6DAAD-177F-1E65-2D5D-D5D01AA88CEF}"/>
              </a:ext>
            </a:extLst>
          </p:cNvPr>
          <p:cNvSpPr txBox="1"/>
          <p:nvPr/>
        </p:nvSpPr>
        <p:spPr>
          <a:xfrm>
            <a:off x="899160" y="2026920"/>
            <a:ext cx="3017520" cy="3901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1200"/>
              </a:spcAft>
            </a:pP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/>
              <a:t>Goal</a:t>
            </a:r>
          </a:p>
          <a:p>
            <a:pPr>
              <a:spcAft>
                <a:spcPts val="1200"/>
              </a:spcAft>
            </a:pPr>
            <a:endParaRPr lang="en-US" sz="2000" dirty="0"/>
          </a:p>
          <a:p>
            <a:pPr>
              <a:spcAft>
                <a:spcPts val="1200"/>
              </a:spcAft>
            </a:pPr>
            <a:endParaRPr lang="en-US" sz="2000" dirty="0"/>
          </a:p>
          <a:p>
            <a:pPr>
              <a:spcAft>
                <a:spcPts val="1200"/>
              </a:spcAft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85FD1-2BC8-0D1B-128D-F25C6B1E2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963" y="2573513"/>
            <a:ext cx="6766877" cy="2808254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83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FEAFC-EB6E-6B1E-C3A5-5C0F395C0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109" y="762054"/>
            <a:ext cx="8439400" cy="512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03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baseline="0" dirty="0">
                <a:latin typeface="+mj-lt"/>
                <a:ea typeface="+mj-ea"/>
                <a:cs typeface="+mj-cs"/>
              </a:rPr>
              <a:t>Parallel computing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6DAAD-177F-1E65-2D5D-D5D01AA88CEF}"/>
              </a:ext>
            </a:extLst>
          </p:cNvPr>
          <p:cNvSpPr txBox="1"/>
          <p:nvPr/>
        </p:nvSpPr>
        <p:spPr>
          <a:xfrm>
            <a:off x="1027176" y="2344864"/>
            <a:ext cx="9195816" cy="3901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Breaking the problem into independent components so that each processing element can execute its part of the algorithm simultaneously with the others.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processing elements can be diverse and include resources such as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a single computer with multiple processors, 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several networked computers, specialized hardware, or 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combination of the above.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type of synchronization through devices</a:t>
            </a:r>
          </a:p>
          <a:p>
            <a:pPr>
              <a:spcAft>
                <a:spcPts val="1200"/>
              </a:spcAft>
            </a:pPr>
            <a:endParaRPr lang="en-US" sz="2000" dirty="0"/>
          </a:p>
          <a:p>
            <a:pPr>
              <a:spcAft>
                <a:spcPts val="1200"/>
              </a:spcAft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76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C3A208F-FAB0-75AD-CC71-53FF6D854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8565" y="68263"/>
            <a:ext cx="8454870" cy="644683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76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baseline="0" dirty="0">
                <a:latin typeface="+mj-lt"/>
                <a:ea typeface="+mj-ea"/>
                <a:cs typeface="+mj-cs"/>
              </a:rPr>
              <a:t>Parallel computers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746BF-5282-C5AF-1CEE-6A1554679B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62"/>
          <a:stretch/>
        </p:blipFill>
        <p:spPr>
          <a:xfrm>
            <a:off x="1805259" y="1711928"/>
            <a:ext cx="7773485" cy="420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33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baseline="0" dirty="0">
                <a:latin typeface="+mj-lt"/>
                <a:ea typeface="+mj-ea"/>
                <a:cs typeface="+mj-cs"/>
              </a:rPr>
              <a:t>Parallel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925979-1430-EFE4-7927-877ECE2DB0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83"/>
          <a:stretch/>
        </p:blipFill>
        <p:spPr>
          <a:xfrm>
            <a:off x="566207" y="1671782"/>
            <a:ext cx="6838105" cy="2821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96C97B-B36D-051D-FC40-5F307A22C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584" y="1615785"/>
            <a:ext cx="4628252" cy="362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74F68-603E-1E0D-D65A-F07BB5469CAD}"/>
              </a:ext>
            </a:extLst>
          </p:cNvPr>
          <p:cNvSpPr txBox="1"/>
          <p:nvPr/>
        </p:nvSpPr>
        <p:spPr>
          <a:xfrm>
            <a:off x="7071360" y="5472461"/>
            <a:ext cx="5102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Resources, like memory and I/O devices, are accessible by all processors.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38A3CCB-323F-5BDD-88F3-613FC28B110F}"/>
              </a:ext>
            </a:extLst>
          </p:cNvPr>
          <p:cNvSpPr/>
          <p:nvPr/>
        </p:nvSpPr>
        <p:spPr>
          <a:xfrm rot="16200000">
            <a:off x="11097651" y="4824294"/>
            <a:ext cx="978995" cy="3173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96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baseline="0" dirty="0">
                <a:latin typeface="+mj-lt"/>
                <a:ea typeface="+mj-ea"/>
                <a:cs typeface="+mj-cs"/>
              </a:rPr>
              <a:t>Share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56F2E-B43A-777F-3F53-52C1174694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06"/>
          <a:stretch/>
        </p:blipFill>
        <p:spPr>
          <a:xfrm>
            <a:off x="2410887" y="1559328"/>
            <a:ext cx="6917839" cy="468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75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2674-BA0C-72A8-26F8-D58327FC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Data locality and isolation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C3E70-8C8C-05A2-7BEA-7150813A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" smtClean="0"/>
              <a:pPr>
                <a:spcAft>
                  <a:spcPts val="600"/>
                </a:spcAft>
              </a:pPr>
              <a:t>24</a:t>
            </a:fld>
            <a:endParaRPr lang="en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5AF8A83B-0257-7448-A983-66ED9997C6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1627902"/>
              </p:ext>
            </p:extLst>
          </p:nvPr>
        </p:nvGraphicFramePr>
        <p:xfrm>
          <a:off x="911352" y="2043429"/>
          <a:ext cx="10405174" cy="3925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597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E2799-6EBA-5932-2A38-1B107502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8799022" cy="1249680"/>
          </a:xfrm>
        </p:spPr>
        <p:txBody>
          <a:bodyPr/>
          <a:lstStyle/>
          <a:p>
            <a:r>
              <a:rPr lang="en-US" dirty="0"/>
              <a:t>Framework for parallel computation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93117-0C24-E4FA-BD1A-F28FE7789D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05712" y="1961948"/>
            <a:ext cx="9328543" cy="3902075"/>
          </a:xfrm>
        </p:spPr>
        <p:txBody>
          <a:bodyPr>
            <a:normAutofit/>
          </a:bodyPr>
          <a:lstStyle/>
          <a:p>
            <a:r>
              <a:rPr lang="en-US" dirty="0"/>
              <a:t>Cluster and grid computing</a:t>
            </a:r>
          </a:p>
          <a:p>
            <a:pPr lvl="1"/>
            <a:r>
              <a:rPr lang="en-US" dirty="0"/>
              <a:t>Provide logical abstractions</a:t>
            </a:r>
          </a:p>
          <a:p>
            <a:pPr lvl="1"/>
            <a:r>
              <a:rPr lang="en-US" dirty="0"/>
              <a:t>Libraries implementing the message passing interface (MPI) for same local network</a:t>
            </a:r>
          </a:p>
          <a:p>
            <a:pPr lvl="1"/>
            <a:r>
              <a:rPr lang="en-US" dirty="0"/>
              <a:t>MapReduce is a framework processing parallelizable problems across huge data sets, using large number of pcs or nodes, cluster or grid (nodes are shared across geographically or heterogeneous hardware)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40D32-7E3E-D828-03A7-26FA9636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781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106" y="1356508"/>
            <a:ext cx="6646765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Map and Reduce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26DAAD-177F-1E65-2D5D-D5D01AA88CEF}"/>
              </a:ext>
            </a:extLst>
          </p:cNvPr>
          <p:cNvSpPr txBox="1"/>
          <p:nvPr/>
        </p:nvSpPr>
        <p:spPr>
          <a:xfrm>
            <a:off x="1633726" y="3254774"/>
            <a:ext cx="8772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Map phase dominates, the complexity is O(n*m), where n:input size; m: number of mappers (like log file analysis)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reducer phase dominates, the overall complexity is O(n*r*m), where r is number of reduce tasks (example?)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if the number of tasks are processed by many computers? </a:t>
            </a:r>
          </a:p>
        </p:txBody>
      </p:sp>
    </p:spTree>
    <p:extLst>
      <p:ext uri="{BB962C8B-B14F-4D97-AF65-F5344CB8AC3E}">
        <p14:creationId xmlns:p14="http://schemas.microsoft.com/office/powerpoint/2010/main" val="3852405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027" y="578052"/>
            <a:ext cx="9426541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Evolution of </a:t>
            </a:r>
            <a:r>
              <a:rPr lang="en-US" dirty="0" err="1"/>
              <a:t>Mapreduce</a:t>
            </a:r>
            <a:r>
              <a:rPr lang="en-US" dirty="0"/>
              <a:t> framework</a:t>
            </a:r>
            <a:endParaRPr lang="en-ZA" dirty="0"/>
          </a:p>
        </p:txBody>
      </p:sp>
      <p:pic>
        <p:nvPicPr>
          <p:cNvPr id="10" name="Google Shape;328;p46">
            <a:extLst>
              <a:ext uri="{FF2B5EF4-FFF2-40B4-BE49-F238E27FC236}">
                <a16:creationId xmlns:a16="http://schemas.microsoft.com/office/drawing/2014/main" id="{BD170C42-59DE-1876-E77B-EFB11854F704}"/>
              </a:ext>
            </a:extLst>
          </p:cNvPr>
          <p:cNvPicPr preferRelativeResize="0">
            <a:picLocks noGrp="1"/>
          </p:cNvPicPr>
          <p:nvPr>
            <p:ph sz="quarter" idx="14"/>
          </p:nvPr>
        </p:nvPicPr>
        <p:blipFill rotWithShape="1">
          <a:blip r:embed="rId2"/>
          <a:stretch/>
        </p:blipFill>
        <p:spPr>
          <a:xfrm>
            <a:off x="2428054" y="2043429"/>
            <a:ext cx="7371770" cy="39254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98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MapReduce + scalability + fault tolerance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38EB0E-F5F0-BFE4-1173-E76D10F49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69"/>
          <a:stretch/>
        </p:blipFill>
        <p:spPr>
          <a:xfrm>
            <a:off x="2246376" y="1608384"/>
            <a:ext cx="7119297" cy="48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E47F95-728C-8056-093F-F2D42DB0E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22" y="1066512"/>
            <a:ext cx="10108590" cy="403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10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Spark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dirty="0"/>
              <a:t>Spark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1352" y="1792224"/>
            <a:ext cx="10411968" cy="434340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 open-source, distributed computing framework designed for </a:t>
            </a:r>
            <a:r>
              <a:rPr lang="en-US" b="1" i="0" u="sng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speed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ease of use.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</a:t>
            </a:r>
            <a:r>
              <a:rPr lang="en-US" b="1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I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n-memory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processing capabilities, allowing it to perform computations much faster than traditional batch processing systems like Hadoop MapReduce.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Supports various programming languages (Scala, Java, Python, R) and offers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high-level APIs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like Spark SQL, Spark Streaming,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MLlib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(machine learning), and </a:t>
            </a:r>
            <a:r>
              <a:rPr 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GraphX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(graph processing).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Resilient Distributed Datasets (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RDD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s) as the primary data abstraction, which are distributed, immutable, and fault-tolerant data structures.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Offers interactive querying, real-time processing, iterative algorithms, and complex analytics workloads.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dirty="0"/>
              <a:t>Spark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9D51EC-7DD2-BFA8-C7DA-764B3C4C7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290" y="1292608"/>
            <a:ext cx="8444438" cy="4272784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754EEDEB-6FC9-4941-A52C-092519624B3C}"/>
              </a:ext>
            </a:extLst>
          </p:cNvPr>
          <p:cNvSpPr/>
          <p:nvPr/>
        </p:nvSpPr>
        <p:spPr>
          <a:xfrm>
            <a:off x="3562743" y="2437132"/>
            <a:ext cx="168009" cy="21031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7BDC986-34DD-2C62-3A3C-52B815A01CB5}"/>
              </a:ext>
            </a:extLst>
          </p:cNvPr>
          <p:cNvSpPr/>
          <p:nvPr/>
        </p:nvSpPr>
        <p:spPr>
          <a:xfrm>
            <a:off x="8616327" y="1757428"/>
            <a:ext cx="168009" cy="210312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35C920-1039-B4CF-1159-9CC171864F5E}"/>
              </a:ext>
            </a:extLst>
          </p:cNvPr>
          <p:cNvSpPr txBox="1"/>
          <p:nvPr/>
        </p:nvSpPr>
        <p:spPr>
          <a:xfrm>
            <a:off x="2579392" y="5845546"/>
            <a:ext cx="8676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Spark application maps to a single driver process  and series executors.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D65B5-6390-0030-9BDF-5D4583B3BDBB}"/>
              </a:ext>
            </a:extLst>
          </p:cNvPr>
          <p:cNvSpPr txBox="1"/>
          <p:nvPr/>
        </p:nvSpPr>
        <p:spPr>
          <a:xfrm>
            <a:off x="676656" y="1757428"/>
            <a:ext cx="6794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Driver: orchestrates the job flow, schedule tasks, and is in working mode when the application is running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6CC8AB-106E-8C52-7B20-674E9E40AB1F}"/>
              </a:ext>
            </a:extLst>
          </p:cNvPr>
          <p:cNvSpPr txBox="1"/>
          <p:nvPr/>
        </p:nvSpPr>
        <p:spPr>
          <a:xfrm>
            <a:off x="7306055" y="1340352"/>
            <a:ext cx="354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executor can do many tasks</a:t>
            </a:r>
          </a:p>
        </p:txBody>
      </p:sp>
    </p:spTree>
    <p:extLst>
      <p:ext uri="{BB962C8B-B14F-4D97-AF65-F5344CB8AC3E}">
        <p14:creationId xmlns:p14="http://schemas.microsoft.com/office/powerpoint/2010/main" val="4087606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A65FBC-E341-407A-F1EF-DDD6B26EB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61" y="1246909"/>
            <a:ext cx="4975170" cy="40547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935D82-862F-9218-C260-2BB260DF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618" y="1053910"/>
            <a:ext cx="3920946" cy="475018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A29217-1A7B-3E3E-6091-8D832EE6373A}"/>
              </a:ext>
            </a:extLst>
          </p:cNvPr>
          <p:cNvSpPr txBox="1"/>
          <p:nvPr/>
        </p:nvSpPr>
        <p:spPr>
          <a:xfrm>
            <a:off x="3528246" y="193964"/>
            <a:ext cx="392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Hadoop Distributed  File System</a:t>
            </a:r>
          </a:p>
        </p:txBody>
      </p:sp>
      <p:pic>
        <p:nvPicPr>
          <p:cNvPr id="14" name="Graphic 13" descr="Computer outline">
            <a:extLst>
              <a:ext uri="{FF2B5EF4-FFF2-40B4-BE49-F238E27FC236}">
                <a16:creationId xmlns:a16="http://schemas.microsoft.com/office/drawing/2014/main" id="{722E2DA5-7522-8259-3FC8-2C0F387D9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4509" y="1053910"/>
            <a:ext cx="727364" cy="727364"/>
          </a:xfrm>
          <a:prstGeom prst="rect">
            <a:avLst/>
          </a:prstGeom>
        </p:spPr>
      </p:pic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461B924C-469F-CE26-153A-591ADA9B03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2582" y="2842491"/>
            <a:ext cx="464127" cy="464127"/>
          </a:xfrm>
          <a:prstGeom prst="rect">
            <a:avLst/>
          </a:prstGeom>
        </p:spPr>
      </p:pic>
      <p:pic>
        <p:nvPicPr>
          <p:cNvPr id="17" name="Graphic 16" descr="Server with solid fill">
            <a:extLst>
              <a:ext uri="{FF2B5EF4-FFF2-40B4-BE49-F238E27FC236}">
                <a16:creationId xmlns:a16="http://schemas.microsoft.com/office/drawing/2014/main" id="{8ED5ADF9-7488-7A49-CF34-93FD527BD8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2581" y="3797232"/>
            <a:ext cx="464127" cy="464127"/>
          </a:xfrm>
          <a:prstGeom prst="rect">
            <a:avLst/>
          </a:prstGeom>
        </p:spPr>
      </p:pic>
      <p:pic>
        <p:nvPicPr>
          <p:cNvPr id="18" name="Graphic 17" descr="Server with solid fill">
            <a:extLst>
              <a:ext uri="{FF2B5EF4-FFF2-40B4-BE49-F238E27FC236}">
                <a16:creationId xmlns:a16="http://schemas.microsoft.com/office/drawing/2014/main" id="{12BE7712-77A9-F6DF-DC24-DA08B34A8F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0554" y="4631072"/>
            <a:ext cx="464127" cy="464127"/>
          </a:xfrm>
          <a:prstGeom prst="rect">
            <a:avLst/>
          </a:prstGeom>
        </p:spPr>
      </p:pic>
      <p:pic>
        <p:nvPicPr>
          <p:cNvPr id="19" name="Graphic 18" descr="Server with solid fill">
            <a:extLst>
              <a:ext uri="{FF2B5EF4-FFF2-40B4-BE49-F238E27FC236}">
                <a16:creationId xmlns:a16="http://schemas.microsoft.com/office/drawing/2014/main" id="{8D38BA73-FD13-309C-B21F-8039DC7DF6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87212" y="2887647"/>
            <a:ext cx="464127" cy="464127"/>
          </a:xfrm>
          <a:prstGeom prst="rect">
            <a:avLst/>
          </a:prstGeom>
        </p:spPr>
      </p:pic>
      <p:pic>
        <p:nvPicPr>
          <p:cNvPr id="20" name="Graphic 19" descr="Server with solid fill">
            <a:extLst>
              <a:ext uri="{FF2B5EF4-FFF2-40B4-BE49-F238E27FC236}">
                <a16:creationId xmlns:a16="http://schemas.microsoft.com/office/drawing/2014/main" id="{36D1322C-F6B4-C29A-C4E4-D4BC302ABF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87211" y="3739633"/>
            <a:ext cx="464127" cy="46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29217-1A7B-3E3E-6091-8D832EE6373A}"/>
              </a:ext>
            </a:extLst>
          </p:cNvPr>
          <p:cNvSpPr txBox="1"/>
          <p:nvPr/>
        </p:nvSpPr>
        <p:spPr>
          <a:xfrm>
            <a:off x="3528246" y="193964"/>
            <a:ext cx="3920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Hadoop Distributed  File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191D57-3E77-9002-2370-1C8177FA0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491" y="669429"/>
            <a:ext cx="7453746" cy="574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5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616" y="364812"/>
            <a:ext cx="6172200" cy="1249680"/>
          </a:xfrm>
        </p:spPr>
        <p:txBody>
          <a:bodyPr/>
          <a:lstStyle/>
          <a:p>
            <a:r>
              <a:rPr lang="en-US" dirty="0"/>
              <a:t>Differences</a:t>
            </a:r>
            <a:endParaRPr lang="en-ZA" dirty="0"/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0F79245D-314F-2B78-AB57-5196A89AD1B0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2529681" y="2200656"/>
          <a:ext cx="7132638" cy="366769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34312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0132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96999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591983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Hadoop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Processing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Disk-based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In-memory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Data Abstraction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Stored in HDFS and using MapReduce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RDD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 MR jobs in 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Higher-level APIs (Shell, </a:t>
                      </a:r>
                      <a:r>
                        <a:rPr lang="en-US" sz="1800" dirty="0" err="1"/>
                        <a:t>PySpark</a:t>
                      </a:r>
                      <a:r>
                        <a:rPr lang="en-US" sz="1800" dirty="0"/>
                        <a:t>) and libraries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Real-time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Batch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Streaming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51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8C986-0F3F-2549-03EE-C6C6079E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B0650F-F580-429C-8369-E6E9C5B19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38" y="1436043"/>
            <a:ext cx="4045473" cy="3444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3801ADF-33A5-3CC4-F977-DD44311D7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541" y="1351640"/>
            <a:ext cx="3737409" cy="361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 descr="Server with solid fill">
            <a:extLst>
              <a:ext uri="{FF2B5EF4-FFF2-40B4-BE49-F238E27FC236}">
                <a16:creationId xmlns:a16="http://schemas.microsoft.com/office/drawing/2014/main" id="{76BC198F-0233-01BC-EC39-74E2CF9EF4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6364" y="1854200"/>
            <a:ext cx="464127" cy="46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62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Business Case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F0BC6-D6CD-A5E2-8788-8A14456E999A}"/>
              </a:ext>
            </a:extLst>
          </p:cNvPr>
          <p:cNvSpPr txBox="1"/>
          <p:nvPr/>
        </p:nvSpPr>
        <p:spPr>
          <a:xfrm>
            <a:off x="1874520" y="1956816"/>
            <a:ext cx="66202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Big Data Analytics in Marketing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Businesses use Hadoop or Spark for tasks such as customer segmentation, market basket analysis, sentiment analysis, and predictive modeling.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Warehousing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Big data technique serves as a cost-effective solution for storing and processing vast amounts of data in a distributed manner.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 and analyze diverse data sources, build data lakes.</a:t>
            </a:r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Business Case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F0BC6-D6CD-A5E2-8788-8A14456E999A}"/>
              </a:ext>
            </a:extLst>
          </p:cNvPr>
          <p:cNvSpPr txBox="1"/>
          <p:nvPr/>
        </p:nvSpPr>
        <p:spPr>
          <a:xfrm>
            <a:off x="1435608" y="2136338"/>
            <a:ext cx="70225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File Processing and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Processing and analyzing log data generated by applications, servers, and network devices in memory.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Recommendation Systems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 Detection and Risk Management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Internet of Things or IoT Data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Massive volumes of real-time data from IoT devices</a:t>
            </a:r>
          </a:p>
        </p:txBody>
      </p:sp>
    </p:spTree>
    <p:extLst>
      <p:ext uri="{BB962C8B-B14F-4D97-AF65-F5344CB8AC3E}">
        <p14:creationId xmlns:p14="http://schemas.microsoft.com/office/powerpoint/2010/main" val="39021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B82372-5A69-7FDB-F095-39133FA39FC9}"/>
              </a:ext>
            </a:extLst>
          </p:cNvPr>
          <p:cNvSpPr txBox="1"/>
          <p:nvPr/>
        </p:nvSpPr>
        <p:spPr>
          <a:xfrm>
            <a:off x="893064" y="72518"/>
            <a:ext cx="10405174" cy="13265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cap="all" baseline="0">
                <a:latin typeface="+mj-lt"/>
                <a:ea typeface="+mj-ea"/>
                <a:cs typeface="+mj-cs"/>
              </a:rPr>
              <a:t>Analytics and Big Data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kern="1200" cap="all" baseline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6420EB-5F35-21CA-04F9-09ADD53AD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52" y="1881027"/>
            <a:ext cx="10405174" cy="2809397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8C986-0F3F-2549-03EE-C6C6079E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941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FFE3-F547-BF79-998A-661FB4B33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1819" y="960120"/>
            <a:ext cx="6474690" cy="3056343"/>
          </a:xfrm>
        </p:spPr>
        <p:txBody>
          <a:bodyPr/>
          <a:lstStyle/>
          <a:p>
            <a:r>
              <a:rPr lang="en-US" dirty="0"/>
              <a:t>What did you learn?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5EF51-3EB8-35D7-157F-06E6BE71501E}"/>
              </a:ext>
            </a:extLst>
          </p:cNvPr>
          <p:cNvSpPr txBox="1"/>
          <p:nvPr/>
        </p:nvSpPr>
        <p:spPr>
          <a:xfrm>
            <a:off x="6539345" y="4470400"/>
            <a:ext cx="2770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945089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68F7-AF4C-258B-F02C-BCEE05AA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Intro to Hadoop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EB2ED-937D-07D4-A1B7-E067484486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989513"/>
            <a:ext cx="8324089" cy="3493008"/>
          </a:xfrm>
        </p:spPr>
        <p:txBody>
          <a:bodyPr/>
          <a:lstStyle/>
          <a:p>
            <a:r>
              <a:rPr lang="en-US" dirty="0"/>
              <a:t>Hadoop Cluster</a:t>
            </a:r>
          </a:p>
          <a:p>
            <a:r>
              <a:rPr lang="en-US" dirty="0"/>
              <a:t>Building blocks of Hadoop</a:t>
            </a:r>
          </a:p>
          <a:p>
            <a:pPr lvl="1"/>
            <a:r>
              <a:rPr lang="en-US" dirty="0"/>
              <a:t>Using Hadoop distributed file system</a:t>
            </a:r>
          </a:p>
          <a:p>
            <a:pPr lvl="1"/>
            <a:r>
              <a:rPr lang="en-US" dirty="0"/>
              <a:t>What is MapReduce?</a:t>
            </a:r>
          </a:p>
          <a:p>
            <a:pPr lvl="2"/>
            <a:r>
              <a:rPr lang="en-US" dirty="0"/>
              <a:t>Basics of a MR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22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68F7-AF4C-258B-F02C-BCEE05AA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246253"/>
            <a:ext cx="8025384" cy="841248"/>
          </a:xfrm>
        </p:spPr>
        <p:txBody>
          <a:bodyPr/>
          <a:lstStyle/>
          <a:p>
            <a:r>
              <a:rPr lang="en-US" dirty="0"/>
              <a:t>Hadoop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9A0DB-72C9-625F-27CC-62F51D26C774}"/>
              </a:ext>
            </a:extLst>
          </p:cNvPr>
          <p:cNvSpPr txBox="1"/>
          <p:nvPr/>
        </p:nvSpPr>
        <p:spPr>
          <a:xfrm>
            <a:off x="1274064" y="1087501"/>
            <a:ext cx="8025384" cy="5432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D0D0D"/>
                </a:solidFill>
                <a:effectLst/>
              </a:rPr>
              <a:t>Hadoop is an open-source distributed computing </a:t>
            </a:r>
            <a:r>
              <a:rPr lang="en-US" sz="2000" b="1" i="0" u="none" strike="noStrike" dirty="0">
                <a:solidFill>
                  <a:srgbClr val="0D0D0D"/>
                </a:solidFill>
                <a:effectLst/>
              </a:rPr>
              <a:t>framework</a:t>
            </a:r>
            <a:r>
              <a:rPr lang="en-US" sz="2000" b="0" i="0" u="none" strike="noStrike" dirty="0">
                <a:solidFill>
                  <a:srgbClr val="0D0D0D"/>
                </a:solidFill>
                <a:effectLst/>
              </a:rPr>
              <a:t> that allows for the distributed storage and processing of large datasets across clusters of computers.</a:t>
            </a:r>
          </a:p>
          <a:p>
            <a:pPr lvl="1" rtl="0" fontAlgn="base">
              <a:spcBef>
                <a:spcPts val="0"/>
              </a:spcBef>
              <a:spcAft>
                <a:spcPts val="0"/>
              </a:spcAft>
            </a:pPr>
            <a:endParaRPr lang="en-US" sz="2000" b="0" i="0" u="none" strike="noStrike" dirty="0">
              <a:solidFill>
                <a:srgbClr val="0D0D0D"/>
              </a:solidFill>
              <a:effectLst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D0D0D"/>
                </a:solidFill>
                <a:effectLst/>
              </a:rPr>
              <a:t>It consists of two main components:</a:t>
            </a:r>
            <a:r>
              <a:rPr lang="en-US" sz="2000" b="0" i="0" u="sng" strike="noStrike" dirty="0">
                <a:solidFill>
                  <a:srgbClr val="0D0D0D"/>
                </a:solidFill>
                <a:effectLst/>
              </a:rPr>
              <a:t> </a:t>
            </a:r>
            <a:r>
              <a:rPr lang="en-US" sz="2000" b="0" i="1" u="sng" strike="noStrike" dirty="0">
                <a:solidFill>
                  <a:srgbClr val="0D0D0D"/>
                </a:solidFill>
                <a:effectLst/>
              </a:rPr>
              <a:t>Hadoop </a:t>
            </a:r>
            <a:r>
              <a:rPr lang="en-US" sz="2000" b="1" i="1" u="sng" strike="noStrike" dirty="0">
                <a:solidFill>
                  <a:srgbClr val="0D0D0D"/>
                </a:solidFill>
                <a:effectLst/>
              </a:rPr>
              <a:t>Distributed </a:t>
            </a:r>
            <a:r>
              <a:rPr lang="en-US" sz="2000" b="0" i="1" u="sng" strike="noStrike" dirty="0">
                <a:solidFill>
                  <a:srgbClr val="0D0D0D"/>
                </a:solidFill>
                <a:effectLst/>
              </a:rPr>
              <a:t>File System</a:t>
            </a:r>
            <a:r>
              <a:rPr lang="en-US" sz="2000" b="0" i="1" u="none" strike="noStrike" dirty="0">
                <a:solidFill>
                  <a:srgbClr val="0D0D0D"/>
                </a:solidFill>
                <a:effectLst/>
              </a:rPr>
              <a:t> </a:t>
            </a:r>
            <a:r>
              <a:rPr lang="en-US" sz="2000" b="0" i="0" u="none" strike="noStrike" dirty="0">
                <a:solidFill>
                  <a:srgbClr val="0D0D0D"/>
                </a:solidFill>
                <a:effectLst/>
              </a:rPr>
              <a:t>(HDFS) for distributed storage and </a:t>
            </a:r>
            <a:r>
              <a:rPr lang="en-US" sz="2000" b="0" i="1" u="sng" strike="noStrike" dirty="0">
                <a:solidFill>
                  <a:srgbClr val="0D0D0D"/>
                </a:solidFill>
                <a:effectLst/>
              </a:rPr>
              <a:t>MapReduce for distributed </a:t>
            </a:r>
            <a:r>
              <a:rPr lang="en-US" sz="2000" b="1" i="1" u="sng" strike="noStrike" dirty="0">
                <a:solidFill>
                  <a:srgbClr val="0D0D0D"/>
                </a:solidFill>
                <a:effectLst/>
              </a:rPr>
              <a:t>processing</a:t>
            </a:r>
            <a:r>
              <a:rPr lang="en-US" sz="2000" b="0" i="0" u="none" strike="noStrike" dirty="0">
                <a:solidFill>
                  <a:srgbClr val="0D0D0D"/>
                </a:solidFill>
                <a:effectLst/>
              </a:rPr>
              <a:t>.</a:t>
            </a:r>
          </a:p>
          <a:p>
            <a:pPr marL="1200150" lvl="2" indent="-285750" fontAlgn="base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Single namespace for entire cluster</a:t>
            </a:r>
          </a:p>
          <a:p>
            <a:pPr marL="1200150" lvl="2" indent="-285750" fontAlgn="base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Replicates data 3X for fault tolerance</a:t>
            </a:r>
          </a:p>
          <a:p>
            <a:pPr marL="742950" lvl="1" indent="-285750" rtl="0" fontAlgn="base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D0D0D"/>
                </a:solidFill>
                <a:effectLst/>
              </a:rPr>
              <a:t>Hadoop </a:t>
            </a:r>
            <a:r>
              <a:rPr lang="en-US" sz="2000" dirty="0">
                <a:solidFill>
                  <a:srgbClr val="0D0D0D"/>
                </a:solidFill>
              </a:rPr>
              <a:t>MapReduce (Google:20 PB /day)</a:t>
            </a:r>
          </a:p>
          <a:p>
            <a:pPr marL="1200150" lvl="2" indent="-285750" fontAlgn="base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a programming model for execute the map and reduce functions</a:t>
            </a:r>
          </a:p>
          <a:p>
            <a:pPr marL="1200150" lvl="2" indent="-285750" fontAlgn="base"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manages works distribution and 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5001829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68F7-AF4C-258B-F02C-BCEE05AA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246253"/>
            <a:ext cx="8025384" cy="841248"/>
          </a:xfrm>
        </p:spPr>
        <p:txBody>
          <a:bodyPr/>
          <a:lstStyle/>
          <a:p>
            <a:r>
              <a:rPr lang="en-US" dirty="0"/>
              <a:t>Hadoop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9A0DB-72C9-625F-27CC-62F51D26C774}"/>
              </a:ext>
            </a:extLst>
          </p:cNvPr>
          <p:cNvSpPr txBox="1"/>
          <p:nvPr/>
        </p:nvSpPr>
        <p:spPr>
          <a:xfrm>
            <a:off x="688848" y="1591056"/>
            <a:ext cx="82478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Hadoop common utilities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Avro, a data serialization system with scripting languages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HDFS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Hive for ad hoc query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D0D0D"/>
                </a:solidFill>
              </a:rPr>
              <a:t>MapReduce, distributed processing on computer</a:t>
            </a:r>
          </a:p>
        </p:txBody>
      </p:sp>
    </p:spTree>
    <p:extLst>
      <p:ext uri="{BB962C8B-B14F-4D97-AF65-F5344CB8AC3E}">
        <p14:creationId xmlns:p14="http://schemas.microsoft.com/office/powerpoint/2010/main" val="25767419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68F7-AF4C-258B-F02C-BCEE05AA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Hadoop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3D3D2-9631-180E-FC9D-B8FB0F252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036" y="752985"/>
            <a:ext cx="6954981" cy="582479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56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68F7-AF4C-258B-F02C-BCEE05AA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/>
          <a:p>
            <a:r>
              <a:rPr lang="en-US" dirty="0"/>
              <a:t>Hadoop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4D8282-1356-5404-77B4-1DD809F90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676" y="535487"/>
            <a:ext cx="7007527" cy="571113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633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F7E7-E216-A89F-F3E9-94A0FB0D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1219200"/>
            <a:ext cx="3891465" cy="2822448"/>
          </a:xfrm>
        </p:spPr>
        <p:txBody>
          <a:bodyPr anchor="b">
            <a:normAutofit/>
          </a:bodyPr>
          <a:lstStyle/>
          <a:p>
            <a:r>
              <a:rPr lang="en-US" dirty="0"/>
              <a:t>Hadoop Cluster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13AC62-EE1B-F670-23F1-1086D7DF0E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r="2584" b="3543"/>
          <a:stretch/>
        </p:blipFill>
        <p:spPr bwMode="auto">
          <a:xfrm>
            <a:off x="4858328" y="628723"/>
            <a:ext cx="7019636" cy="562268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1E9280B-6B34-7A2D-7023-3E6EB41018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3D017-A2DB-508B-DA98-707162B9AE71}"/>
              </a:ext>
            </a:extLst>
          </p:cNvPr>
          <p:cNvSpPr txBox="1"/>
          <p:nvPr/>
        </p:nvSpPr>
        <p:spPr>
          <a:xfrm>
            <a:off x="5394036" y="4821382"/>
            <a:ext cx="244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block size is 20 characters</a:t>
            </a:r>
          </a:p>
        </p:txBody>
      </p:sp>
    </p:spTree>
    <p:extLst>
      <p:ext uri="{BB962C8B-B14F-4D97-AF65-F5344CB8AC3E}">
        <p14:creationId xmlns:p14="http://schemas.microsoft.com/office/powerpoint/2010/main" val="40573411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5D65D2-1470-E103-886E-0C72785C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582" y="400667"/>
            <a:ext cx="7777019" cy="5852206"/>
          </a:xfrm>
          <a:prstGeom prst="rect">
            <a:avLst/>
          </a:prstGeom>
          <a:noFill/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1E9280B-6B34-7A2D-7023-3E6EB41018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912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3309B-92FB-4791-EAF5-0894FB369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287" y="1124906"/>
            <a:ext cx="7144477" cy="4608188"/>
          </a:xfrm>
          <a:prstGeom prst="rect">
            <a:avLst/>
          </a:pr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2015416-1EBA-04BE-9265-A8E063BB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1E9280B-6B34-7A2D-7023-3E6EB41018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502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5777-5B84-A3F6-E069-75F5F3EA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Blocks of Hadoop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62E02-CBEB-351F-6201-EA7EF46CB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Hadoop Distributed File System: data repo that stores all data which is processed by the Hadoop application</a:t>
            </a:r>
          </a:p>
          <a:p>
            <a:r>
              <a:rPr lang="en-US" dirty="0"/>
              <a:t>MapReduce: processing program to deal with the data in HDFS</a:t>
            </a:r>
          </a:p>
          <a:p>
            <a:r>
              <a:rPr lang="en-US" dirty="0"/>
              <a:t>HDFS and MapReduce provide a framework that supports for distributed storage and distributed computation within a Hadoop cluster.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4FB37-215F-F8BB-8E24-1B0B5D86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FDE1E7-024F-360C-7605-26EE0BB18A83}"/>
              </a:ext>
            </a:extLst>
          </p:cNvPr>
          <p:cNvSpPr/>
          <p:nvPr/>
        </p:nvSpPr>
        <p:spPr>
          <a:xfrm>
            <a:off x="6716268" y="4259898"/>
            <a:ext cx="1956816" cy="3931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 TB data file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05F6C4-3366-2407-81B8-5A7EB6908920}"/>
              </a:ext>
            </a:extLst>
          </p:cNvPr>
          <p:cNvSpPr/>
          <p:nvPr/>
        </p:nvSpPr>
        <p:spPr>
          <a:xfrm>
            <a:off x="5199888" y="5111496"/>
            <a:ext cx="1045464" cy="45415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90D28D-A2AF-A29D-B43A-0E049941AC9E}"/>
              </a:ext>
            </a:extLst>
          </p:cNvPr>
          <p:cNvSpPr/>
          <p:nvPr/>
        </p:nvSpPr>
        <p:spPr>
          <a:xfrm>
            <a:off x="5199888" y="5679059"/>
            <a:ext cx="1045464" cy="45415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BE7D89-7182-37DC-7EA5-5C932FDDBA01}"/>
              </a:ext>
            </a:extLst>
          </p:cNvPr>
          <p:cNvSpPr/>
          <p:nvPr/>
        </p:nvSpPr>
        <p:spPr>
          <a:xfrm>
            <a:off x="6531864" y="5111496"/>
            <a:ext cx="1045464" cy="45415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E8A12D-9375-2D74-F62E-4714C0643134}"/>
              </a:ext>
            </a:extLst>
          </p:cNvPr>
          <p:cNvSpPr/>
          <p:nvPr/>
        </p:nvSpPr>
        <p:spPr>
          <a:xfrm>
            <a:off x="9189720" y="5111496"/>
            <a:ext cx="1045464" cy="45415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85CF57-C42F-BEDA-3F9D-1ED961AEC565}"/>
              </a:ext>
            </a:extLst>
          </p:cNvPr>
          <p:cNvSpPr/>
          <p:nvPr/>
        </p:nvSpPr>
        <p:spPr>
          <a:xfrm>
            <a:off x="7930896" y="5130102"/>
            <a:ext cx="1045464" cy="45415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77558-BE21-9A5D-0C9C-9EEE81C657A0}"/>
              </a:ext>
            </a:extLst>
          </p:cNvPr>
          <p:cNvSpPr/>
          <p:nvPr/>
        </p:nvSpPr>
        <p:spPr>
          <a:xfrm>
            <a:off x="7930896" y="5697665"/>
            <a:ext cx="1045464" cy="45415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Block 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E907E7-76BC-438B-8C8C-417A24A1D0D9}"/>
              </a:ext>
            </a:extLst>
          </p:cNvPr>
          <p:cNvSpPr/>
          <p:nvPr/>
        </p:nvSpPr>
        <p:spPr>
          <a:xfrm>
            <a:off x="4974336" y="4919472"/>
            <a:ext cx="2743200" cy="1399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9DA69FC-C041-B8C2-CEE7-AB14B5E580FA}"/>
              </a:ext>
            </a:extLst>
          </p:cNvPr>
          <p:cNvSpPr/>
          <p:nvPr/>
        </p:nvSpPr>
        <p:spPr>
          <a:xfrm>
            <a:off x="7839456" y="4919472"/>
            <a:ext cx="2657856" cy="13990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D8744C-A2E9-5116-EA4E-0744AB95EE1F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345936" y="4653090"/>
            <a:ext cx="370332" cy="266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9847D6-E4F1-B249-16D2-92E89E5846A8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673084" y="4653090"/>
            <a:ext cx="495300" cy="266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253798F-3539-E0C0-5E6D-3EDE395E5776}"/>
              </a:ext>
            </a:extLst>
          </p:cNvPr>
          <p:cNvSpPr txBox="1"/>
          <p:nvPr/>
        </p:nvSpPr>
        <p:spPr>
          <a:xfrm>
            <a:off x="6531102" y="6416150"/>
            <a:ext cx="359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Hadoop data distribution</a:t>
            </a:r>
          </a:p>
        </p:txBody>
      </p:sp>
    </p:spTree>
    <p:extLst>
      <p:ext uri="{BB962C8B-B14F-4D97-AF65-F5344CB8AC3E}">
        <p14:creationId xmlns:p14="http://schemas.microsoft.com/office/powerpoint/2010/main" val="26138359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47683-7F06-1784-1E6A-1181BB6B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/>
          <a:p>
            <a:r>
              <a:rPr lang="en-US" dirty="0"/>
              <a:t>MapReduce</a:t>
            </a:r>
          </a:p>
        </p:txBody>
      </p:sp>
    </p:spTree>
    <p:extLst>
      <p:ext uri="{BB962C8B-B14F-4D97-AF65-F5344CB8AC3E}">
        <p14:creationId xmlns:p14="http://schemas.microsoft.com/office/powerpoint/2010/main" val="4243211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1E9280B-6B34-7A2D-7023-3E6EB41018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0FF44A-3A9C-8C76-366F-131CA6EB0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247206"/>
            <a:ext cx="7344800" cy="63635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1E44D0-A625-641C-1780-01413261D504}"/>
              </a:ext>
            </a:extLst>
          </p:cNvPr>
          <p:cNvSpPr txBox="1"/>
          <p:nvPr/>
        </p:nvSpPr>
        <p:spPr>
          <a:xfrm>
            <a:off x="277091" y="424874"/>
            <a:ext cx="197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MapReduce Framework</a:t>
            </a:r>
          </a:p>
        </p:txBody>
      </p:sp>
    </p:spTree>
    <p:extLst>
      <p:ext uri="{BB962C8B-B14F-4D97-AF65-F5344CB8AC3E}">
        <p14:creationId xmlns:p14="http://schemas.microsoft.com/office/powerpoint/2010/main" val="1785178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31710EB-E50E-40E9-1D7C-3F91F5F20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2" y="364325"/>
            <a:ext cx="8331201" cy="655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7815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CA3492B-201A-CD1E-25E3-5C58C150B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52" y="492367"/>
            <a:ext cx="7699250" cy="635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699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57B8AE-9274-6BFA-9EE2-D0E5D291D2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89" b="1"/>
          <a:stretch/>
        </p:blipFill>
        <p:spPr>
          <a:xfrm>
            <a:off x="120650" y="68263"/>
            <a:ext cx="11950700" cy="6446837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54</a:t>
            </a:fld>
            <a:endParaRPr lang="en-US"/>
          </a:p>
        </p:txBody>
      </p:sp>
      <p:sp>
        <p:nvSpPr>
          <p:cNvPr id="13" name="Slide Number Placeholder 3" hidden="1">
            <a:extLst>
              <a:ext uri="{FF2B5EF4-FFF2-40B4-BE49-F238E27FC236}">
                <a16:creationId xmlns:a16="http://schemas.microsoft.com/office/drawing/2014/main" id="{3CBCAACF-DDAD-0C2F-70D8-3C3D6E7A7A0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59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5"/>
          <p:cNvSpPr txBox="1">
            <a:spLocks noGrp="1"/>
          </p:cNvSpPr>
          <p:nvPr>
            <p:ph type="title"/>
          </p:nvPr>
        </p:nvSpPr>
        <p:spPr>
          <a:xfrm>
            <a:off x="972600" y="762567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MapReduce - Key Concepts</a:t>
            </a:r>
            <a:endParaRPr/>
          </a:p>
        </p:txBody>
      </p:sp>
      <p:sp>
        <p:nvSpPr>
          <p:cNvPr id="631" name="Google Shape;631;p75"/>
          <p:cNvSpPr txBox="1">
            <a:spLocks noGrp="1"/>
          </p:cNvSpPr>
          <p:nvPr>
            <p:ph type="body" idx="1"/>
          </p:nvPr>
        </p:nvSpPr>
        <p:spPr>
          <a:xfrm>
            <a:off x="972600" y="1978267"/>
            <a:ext cx="10251600" cy="380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" sz="1600" dirty="0"/>
              <a:t>Phases of MapReduce</a:t>
            </a:r>
            <a:endParaRPr sz="1600" dirty="0"/>
          </a:p>
          <a:p>
            <a:r>
              <a:rPr lang="en" sz="1600" dirty="0"/>
              <a:t>Map phase</a:t>
            </a:r>
            <a:endParaRPr sz="1600" dirty="0"/>
          </a:p>
          <a:p>
            <a:pPr lvl="1">
              <a:spcBef>
                <a:spcPts val="0"/>
              </a:spcBef>
            </a:pPr>
            <a:r>
              <a:rPr lang="en" sz="1600" dirty="0"/>
              <a:t>Each mapper takes a line as input and breaks it into words. It then emits a key/value pair of the word and 1.</a:t>
            </a:r>
            <a:endParaRPr sz="1600" dirty="0"/>
          </a:p>
          <a:p>
            <a:r>
              <a:rPr lang="en" sz="1600" dirty="0"/>
              <a:t>Shuffle/sort phase (</a:t>
            </a:r>
            <a:r>
              <a:rPr lang="en" sz="1600" i="1" dirty="0"/>
              <a:t>partition and sort the mapper output</a:t>
            </a:r>
            <a:r>
              <a:rPr lang="en" sz="1600" dirty="0"/>
              <a:t>)</a:t>
            </a:r>
            <a:endParaRPr sz="1600" dirty="0"/>
          </a:p>
          <a:p>
            <a:pPr lvl="1">
              <a:spcBef>
                <a:spcPts val="0"/>
              </a:spcBef>
            </a:pPr>
            <a:r>
              <a:rPr lang="en" sz="1600" dirty="0"/>
              <a:t>The output from the mappers is sorted by key and shuffled into the reducers such that key/value pairs with the same key end up in the same reducer.</a:t>
            </a:r>
            <a:endParaRPr sz="1600" dirty="0"/>
          </a:p>
          <a:p>
            <a:pPr marR="169329" lvl="1">
              <a:spcBef>
                <a:spcPts val="0"/>
              </a:spcBef>
            </a:pPr>
            <a:r>
              <a:rPr lang="en" sz="1600" dirty="0"/>
              <a:t>Sort is a simple and very useful command found in Unix systems. It rearranges lines of text numerically and/or alphabetically. (</a:t>
            </a:r>
            <a:r>
              <a:rPr lang="en" sz="1600" i="1" dirty="0"/>
              <a:t>Hadoop Streaming KeyBasedComparator is modeled after Unix sort, and utilizes command line options which are the same as Unix sort command line options</a:t>
            </a:r>
            <a:r>
              <a:rPr lang="en" sz="1600" dirty="0"/>
              <a:t>).</a:t>
            </a:r>
            <a:endParaRPr sz="1600" dirty="0"/>
          </a:p>
          <a:p>
            <a:pPr lvl="1">
              <a:spcBef>
                <a:spcPts val="0"/>
              </a:spcBef>
            </a:pPr>
            <a:r>
              <a:rPr lang="en" sz="1600" u="sng" dirty="0">
                <a:solidFill>
                  <a:schemeClr val="hlink"/>
                </a:solidFill>
                <a:hlinkClick r:id="rId3"/>
              </a:rPr>
              <a:t>http://www.theunixschool.com/2012/08/linux-sort-command-examples.html</a:t>
            </a:r>
            <a:endParaRPr sz="1600" dirty="0"/>
          </a:p>
          <a:p>
            <a:r>
              <a:rPr lang="en" sz="1600" dirty="0"/>
              <a:t>Reduce phase</a:t>
            </a:r>
            <a:endParaRPr sz="1600" dirty="0"/>
          </a:p>
          <a:p>
            <a:pPr lvl="1">
              <a:spcBef>
                <a:spcPts val="0"/>
              </a:spcBef>
            </a:pPr>
            <a:r>
              <a:rPr lang="en" sz="1600" dirty="0"/>
              <a:t>Each reducer sums the counts for each word and emits a single key/value with the word and sum.</a:t>
            </a:r>
            <a:endParaRPr sz="1600" dirty="0"/>
          </a:p>
          <a:p>
            <a:pPr marL="0" indent="0">
              <a:buNone/>
            </a:pPr>
            <a:endParaRPr sz="1600" dirty="0"/>
          </a:p>
        </p:txBody>
      </p:sp>
      <p:sp>
        <p:nvSpPr>
          <p:cNvPr id="633" name="Google Shape;633;p7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55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5"/>
          <p:cNvSpPr txBox="1">
            <a:spLocks noGrp="1"/>
          </p:cNvSpPr>
          <p:nvPr>
            <p:ph type="title"/>
          </p:nvPr>
        </p:nvSpPr>
        <p:spPr>
          <a:xfrm>
            <a:off x="2090200" y="3200967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Hadood Installation in Colab</a:t>
            </a:r>
            <a:endParaRPr dirty="0"/>
          </a:p>
        </p:txBody>
      </p:sp>
      <p:sp>
        <p:nvSpPr>
          <p:cNvPr id="633" name="Google Shape;633;p7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59886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5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spcFirstLastPara="1" vert="horz" lIns="121900" tIns="121900" rIns="121900" bIns="121900" rtlCol="0" anchor="b" anchorCtr="0">
            <a:normAutofit/>
          </a:bodyPr>
          <a:lstStyle/>
          <a:p>
            <a:r>
              <a:rPr lang="en-US" dirty="0"/>
              <a:t>1. Copy data to HDFS</a:t>
            </a:r>
            <a:endParaRPr dirty="0"/>
          </a:p>
        </p:txBody>
      </p:sp>
      <p:sp>
        <p:nvSpPr>
          <p:cNvPr id="638" name="Text Placeholder 2">
            <a:extLst>
              <a:ext uri="{FF2B5EF4-FFF2-40B4-BE49-F238E27FC236}">
                <a16:creationId xmlns:a16="http://schemas.microsoft.com/office/drawing/2014/main" id="{01A47A97-C789-CD6E-C289-EF5971DE18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2751" y="2753614"/>
            <a:ext cx="11003281" cy="3493008"/>
          </a:xfrm>
        </p:spPr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!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{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hadoop_path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} fs -put -f $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local_txt_file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$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hdfs_txt_file</a:t>
            </a:r>
            <a:endParaRPr lang="en-US" b="0" dirty="0">
              <a:solidFill>
                <a:srgbClr val="000000"/>
              </a:solidFill>
              <a:effectLst/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33" name="Google Shape;633;p75"/>
          <p:cNvSpPr txBox="1"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spcFirstLastPara="1" vert="horz" lIns="121900" tIns="121900" rIns="121900" bIns="121900" rtlCol="0" anchor="ctr" anchorCtr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400"/>
              <a:pPr>
                <a:lnSpc>
                  <a:spcPct val="90000"/>
                </a:lnSpc>
                <a:spcAft>
                  <a:spcPts val="600"/>
                </a:spcAft>
              </a:pPr>
              <a:t>57</a:t>
            </a:fld>
            <a:endParaRPr lang="en" sz="400"/>
          </a:p>
        </p:txBody>
      </p:sp>
    </p:spTree>
    <p:extLst>
      <p:ext uri="{BB962C8B-B14F-4D97-AF65-F5344CB8AC3E}">
        <p14:creationId xmlns:p14="http://schemas.microsoft.com/office/powerpoint/2010/main" val="22365004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5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spcFirstLastPara="1" vert="horz" lIns="121900" tIns="121900" rIns="121900" bIns="121900" rtlCol="0" anchor="b" anchorCtr="0">
            <a:normAutofit/>
          </a:bodyPr>
          <a:lstStyle/>
          <a:p>
            <a:r>
              <a:rPr lang="en-US" dirty="0"/>
              <a:t>2. M</a:t>
            </a:r>
            <a:r>
              <a:rPr lang="en" dirty="0"/>
              <a:t>ap function</a:t>
            </a:r>
            <a:endParaRPr dirty="0"/>
          </a:p>
        </p:txBody>
      </p:sp>
      <p:sp>
        <p:nvSpPr>
          <p:cNvPr id="638" name="Text Placeholder 2">
            <a:extLst>
              <a:ext uri="{FF2B5EF4-FFF2-40B4-BE49-F238E27FC236}">
                <a16:creationId xmlns:a16="http://schemas.microsoft.com/office/drawing/2014/main" id="{01A47A97-C789-CD6E-C289-EF5971DE18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Splitting lines to words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df.withColumn</a:t>
            </a:r>
            <a:r>
              <a:rPr lang="en-US" dirty="0"/>
              <a:t>("words", </a:t>
            </a:r>
            <a:r>
              <a:rPr lang="en-US" dirty="0" err="1"/>
              <a:t>f.split</a:t>
            </a:r>
            <a:r>
              <a:rPr lang="en-US" dirty="0"/>
              <a:t>("value", " "))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Transforming each word into a key-value pair (</a:t>
            </a:r>
            <a:r>
              <a:rPr lang="en-US" dirty="0" err="1"/>
              <a:t>voc</a:t>
            </a:r>
            <a:r>
              <a:rPr lang="en-US" dirty="0"/>
              <a:t>, 1)</a:t>
            </a:r>
          </a:p>
          <a:p>
            <a:pPr marL="0" indent="0">
              <a:buNone/>
            </a:pPr>
            <a:r>
              <a:rPr lang="en-US" dirty="0" err="1"/>
              <a:t>df.withColumn</a:t>
            </a:r>
            <a:r>
              <a:rPr lang="en-US" dirty="0"/>
              <a:t>("word", </a:t>
            </a:r>
            <a:r>
              <a:rPr lang="en-US" dirty="0" err="1"/>
              <a:t>f.explode</a:t>
            </a:r>
            <a:r>
              <a:rPr lang="en-US" dirty="0"/>
              <a:t>("words"))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33" name="Google Shape;633;p75"/>
          <p:cNvSpPr txBox="1"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spcFirstLastPara="1" vert="horz" lIns="121900" tIns="121900" rIns="121900" bIns="121900" rtlCol="0" anchor="ctr" anchorCtr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400"/>
              <a:pPr>
                <a:lnSpc>
                  <a:spcPct val="90000"/>
                </a:lnSpc>
                <a:spcAft>
                  <a:spcPts val="600"/>
                </a:spcAft>
              </a:pPr>
              <a:t>58</a:t>
            </a:fld>
            <a:endParaRPr lang="en" sz="400"/>
          </a:p>
        </p:txBody>
      </p:sp>
    </p:spTree>
    <p:extLst>
      <p:ext uri="{BB962C8B-B14F-4D97-AF65-F5344CB8AC3E}">
        <p14:creationId xmlns:p14="http://schemas.microsoft.com/office/powerpoint/2010/main" val="34954027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5"/>
          <p:cNvSpPr txBox="1">
            <a:spLocks noGrp="1"/>
          </p:cNvSpPr>
          <p:nvPr>
            <p:ph type="title"/>
          </p:nvPr>
        </p:nvSpPr>
        <p:spPr>
          <a:xfrm>
            <a:off x="1624584" y="913766"/>
            <a:ext cx="8297380" cy="1326514"/>
          </a:xfrm>
        </p:spPr>
        <p:txBody>
          <a:bodyPr spcFirstLastPara="1" vert="horz" lIns="121900" tIns="121900" rIns="121900" bIns="121900" rtlCol="0" anchor="b" anchorCtr="0">
            <a:normAutofit/>
          </a:bodyPr>
          <a:lstStyle/>
          <a:p>
            <a:r>
              <a:rPr lang="en-US" dirty="0"/>
              <a:t>3. Partition and sort</a:t>
            </a:r>
            <a:endParaRPr dirty="0"/>
          </a:p>
        </p:txBody>
      </p:sp>
      <p:sp>
        <p:nvSpPr>
          <p:cNvPr id="633" name="Google Shape;633;p75"/>
          <p:cNvSpPr txBox="1"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spcFirstLastPara="1" vert="horz" lIns="121900" tIns="121900" rIns="121900" bIns="121900" rtlCol="0" anchor="ctr" anchorCtr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400"/>
              <a:pPr>
                <a:lnSpc>
                  <a:spcPct val="90000"/>
                </a:lnSpc>
                <a:spcAft>
                  <a:spcPts val="600"/>
                </a:spcAft>
              </a:pPr>
              <a:t>59</a:t>
            </a:fld>
            <a:endParaRPr lang="en" sz="400"/>
          </a:p>
        </p:txBody>
      </p:sp>
    </p:spTree>
    <p:extLst>
      <p:ext uri="{BB962C8B-B14F-4D97-AF65-F5344CB8AC3E}">
        <p14:creationId xmlns:p14="http://schemas.microsoft.com/office/powerpoint/2010/main" val="34137170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5"/>
          <p:cNvSpPr txBox="1">
            <a:spLocks noGrp="1"/>
          </p:cNvSpPr>
          <p:nvPr>
            <p:ph type="title"/>
          </p:nvPr>
        </p:nvSpPr>
        <p:spPr>
          <a:xfrm>
            <a:off x="1624584" y="913766"/>
            <a:ext cx="8297380" cy="1326514"/>
          </a:xfrm>
        </p:spPr>
        <p:txBody>
          <a:bodyPr spcFirstLastPara="1" vert="horz" lIns="121900" tIns="121900" rIns="121900" bIns="121900" rtlCol="0" anchor="b" anchorCtr="0">
            <a:normAutofit/>
          </a:bodyPr>
          <a:lstStyle/>
          <a:p>
            <a:r>
              <a:rPr lang="en-US" dirty="0"/>
              <a:t>4. Shuffle/Aggregate /reduce</a:t>
            </a:r>
            <a:endParaRPr dirty="0"/>
          </a:p>
        </p:txBody>
      </p:sp>
      <p:sp>
        <p:nvSpPr>
          <p:cNvPr id="633" name="Google Shape;633;p75"/>
          <p:cNvSpPr txBox="1"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spcFirstLastPara="1" vert="horz" lIns="121900" tIns="121900" rIns="121900" bIns="121900" rtlCol="0" anchor="ctr" anchorCtr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400"/>
              <a:pPr>
                <a:lnSpc>
                  <a:spcPct val="90000"/>
                </a:lnSpc>
                <a:spcAft>
                  <a:spcPts val="600"/>
                </a:spcAft>
              </a:pPr>
              <a:t>60</a:t>
            </a:fld>
            <a:endParaRPr lang="en" sz="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84F376-ACBC-BF32-4106-50C31915C21C}"/>
              </a:ext>
            </a:extLst>
          </p:cNvPr>
          <p:cNvSpPr txBox="1"/>
          <p:nvPr/>
        </p:nvSpPr>
        <p:spPr>
          <a:xfrm>
            <a:off x="1828800" y="4547390"/>
            <a:ext cx="65288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Note that </a:t>
            </a:r>
            <a:r>
              <a:rPr lang="en-US" sz="2800" dirty="0" err="1"/>
              <a:t>groupBy</a:t>
            </a:r>
            <a:r>
              <a:rPr lang="en-US" sz="2800" dirty="0"/>
              <a:t>() typically cause a shuffle in order to aggregate the counts for each unique word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E989B-CBD9-2613-D8E4-ACCD7F632C10}"/>
              </a:ext>
            </a:extLst>
          </p:cNvPr>
          <p:cNvSpPr txBox="1"/>
          <p:nvPr/>
        </p:nvSpPr>
        <p:spPr>
          <a:xfrm>
            <a:off x="1756372" y="2240280"/>
            <a:ext cx="81655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/>
              <a:t>groupBy</a:t>
            </a:r>
            <a:r>
              <a:rPr lang="en-US" sz="3600" dirty="0"/>
              <a:t>("word")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count()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/>
              <a:t>reduceBy</a:t>
            </a:r>
            <a:r>
              <a:rPr lang="en-US" sz="3600" dirty="0"/>
              <a:t>()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075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5"/>
          <p:cNvSpPr txBox="1">
            <a:spLocks noGrp="1"/>
          </p:cNvSpPr>
          <p:nvPr>
            <p:ph type="title"/>
          </p:nvPr>
        </p:nvSpPr>
        <p:spPr>
          <a:xfrm>
            <a:off x="4625571" y="-9779"/>
            <a:ext cx="8297380" cy="1326514"/>
          </a:xfrm>
        </p:spPr>
        <p:txBody>
          <a:bodyPr spcFirstLastPara="1" vert="horz" lIns="121900" tIns="121900" rIns="121900" bIns="121900" rtlCol="0" anchor="b" anchorCtr="0">
            <a:normAutofit/>
          </a:bodyPr>
          <a:lstStyle/>
          <a:p>
            <a:r>
              <a:rPr lang="en-US" dirty="0"/>
              <a:t>5. output</a:t>
            </a:r>
            <a:endParaRPr dirty="0"/>
          </a:p>
        </p:txBody>
      </p:sp>
      <p:sp>
        <p:nvSpPr>
          <p:cNvPr id="633" name="Google Shape;633;p75"/>
          <p:cNvSpPr txBox="1"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spcFirstLastPara="1" vert="horz" lIns="121900" tIns="121900" rIns="121900" bIns="121900" rtlCol="0" anchor="ctr" anchorCtr="0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" sz="400"/>
              <a:pPr>
                <a:lnSpc>
                  <a:spcPct val="90000"/>
                </a:lnSpc>
                <a:spcAft>
                  <a:spcPts val="600"/>
                </a:spcAft>
              </a:pPr>
              <a:t>61</a:t>
            </a:fld>
            <a:endParaRPr lang="en" sz="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9ED48-61D6-FD1C-5824-1BD62A463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42" y="1534014"/>
            <a:ext cx="2286319" cy="42201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7BD074-59D0-73BB-E071-5ADD00F02EA5}"/>
              </a:ext>
            </a:extLst>
          </p:cNvPr>
          <p:cNvSpPr txBox="1"/>
          <p:nvPr/>
        </p:nvSpPr>
        <p:spPr>
          <a:xfrm>
            <a:off x="821667" y="1597382"/>
            <a:ext cx="433554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from </a:t>
            </a:r>
            <a:r>
              <a:rPr lang="en-US" sz="1000" dirty="0" err="1"/>
              <a:t>pyspark.sql</a:t>
            </a:r>
            <a:r>
              <a:rPr lang="en-US" sz="1000" dirty="0"/>
              <a:t> import </a:t>
            </a:r>
            <a:r>
              <a:rPr lang="en-US" sz="1000" dirty="0" err="1"/>
              <a:t>SparkSession</a:t>
            </a:r>
            <a:endParaRPr lang="en-US" sz="1000" dirty="0"/>
          </a:p>
          <a:p>
            <a:r>
              <a:rPr lang="en-US" sz="1000" dirty="0"/>
              <a:t>from </a:t>
            </a:r>
            <a:r>
              <a:rPr lang="en-US" sz="1000" dirty="0" err="1"/>
              <a:t>pyspark.sql</a:t>
            </a:r>
            <a:r>
              <a:rPr lang="en-US" sz="1000" dirty="0"/>
              <a:t> import functions as f</a:t>
            </a:r>
          </a:p>
          <a:p>
            <a:endParaRPr lang="en-US" sz="1000" dirty="0"/>
          </a:p>
          <a:p>
            <a:r>
              <a:rPr lang="en-US" sz="1000" dirty="0"/>
              <a:t># Create a </a:t>
            </a:r>
            <a:r>
              <a:rPr lang="en-US" sz="1000" dirty="0" err="1"/>
              <a:t>SparkSession</a:t>
            </a:r>
            <a:endParaRPr lang="en-US" sz="1000" dirty="0"/>
          </a:p>
          <a:p>
            <a:r>
              <a:rPr lang="en-US" sz="1000" dirty="0"/>
              <a:t>spark = </a:t>
            </a:r>
            <a:r>
              <a:rPr lang="en-US" sz="1000" dirty="0" err="1"/>
              <a:t>SparkSession.builder.getOrCreate</a:t>
            </a:r>
            <a:r>
              <a:rPr lang="en-US" sz="1000" dirty="0"/>
              <a:t>()</a:t>
            </a:r>
          </a:p>
          <a:p>
            <a:endParaRPr lang="en-US" sz="1000" dirty="0"/>
          </a:p>
          <a:p>
            <a:r>
              <a:rPr lang="en-US" sz="1000" dirty="0"/>
              <a:t># Clear the Spark session</a:t>
            </a:r>
          </a:p>
          <a:p>
            <a:r>
              <a:rPr lang="en-US" sz="1000" dirty="0" err="1"/>
              <a:t>spark.stop</a:t>
            </a:r>
            <a:r>
              <a:rPr lang="en-US" sz="1000" dirty="0"/>
              <a:t>()</a:t>
            </a:r>
          </a:p>
          <a:p>
            <a:r>
              <a:rPr lang="en-US" sz="1000" dirty="0"/>
              <a:t>spark = </a:t>
            </a:r>
            <a:r>
              <a:rPr lang="en-US" sz="1000" dirty="0" err="1"/>
              <a:t>SparkSession.builder.getOrCreate</a:t>
            </a:r>
            <a:r>
              <a:rPr lang="en-US" sz="1000" dirty="0"/>
              <a:t>()</a:t>
            </a:r>
          </a:p>
          <a:p>
            <a:endParaRPr lang="en-US" sz="1000" dirty="0"/>
          </a:p>
          <a:p>
            <a:r>
              <a:rPr lang="en-US" sz="1000" dirty="0"/>
              <a:t># Read the text file from HDFS</a:t>
            </a:r>
          </a:p>
          <a:p>
            <a:r>
              <a:rPr lang="en-US" sz="1000" dirty="0" err="1"/>
              <a:t>hdfs_txt_file</a:t>
            </a:r>
            <a:r>
              <a:rPr lang="en-US" sz="1000" dirty="0"/>
              <a:t> = '/</a:t>
            </a:r>
            <a:r>
              <a:rPr lang="en-US" sz="1000" dirty="0" err="1"/>
              <a:t>mydata</a:t>
            </a:r>
            <a:r>
              <a:rPr lang="en-US" sz="1000" dirty="0"/>
              <a:t>/HW6_Kowarsch.txt'</a:t>
            </a:r>
          </a:p>
          <a:p>
            <a:r>
              <a:rPr lang="en-US" sz="1000" dirty="0" err="1"/>
              <a:t>df</a:t>
            </a:r>
            <a:r>
              <a:rPr lang="en-US" sz="1000" dirty="0"/>
              <a:t> = </a:t>
            </a:r>
            <a:r>
              <a:rPr lang="en-US" sz="1000" dirty="0" err="1"/>
              <a:t>spark.read.text</a:t>
            </a:r>
            <a:r>
              <a:rPr lang="en-US" sz="1000" dirty="0"/>
              <a:t>(</a:t>
            </a:r>
            <a:r>
              <a:rPr lang="en-US" sz="1000" dirty="0" err="1"/>
              <a:t>hdfs_txt_file</a:t>
            </a:r>
            <a:r>
              <a:rPr lang="en-US" sz="1000" dirty="0"/>
              <a:t>)</a:t>
            </a:r>
          </a:p>
          <a:p>
            <a:endParaRPr lang="en-US" sz="1000" dirty="0"/>
          </a:p>
          <a:p>
            <a:r>
              <a:rPr lang="en-US" sz="1000" dirty="0"/>
              <a:t># Perform word count</a:t>
            </a:r>
          </a:p>
          <a:p>
            <a:r>
              <a:rPr lang="en-US" sz="1000" dirty="0" err="1"/>
              <a:t>word_count</a:t>
            </a:r>
            <a:r>
              <a:rPr lang="en-US" sz="1000" dirty="0"/>
              <a:t> = (</a:t>
            </a:r>
            <a:r>
              <a:rPr lang="en-US" sz="1000" dirty="0" err="1"/>
              <a:t>df</a:t>
            </a:r>
            <a:endParaRPr lang="en-US" sz="1000" dirty="0"/>
          </a:p>
          <a:p>
            <a:r>
              <a:rPr lang="en-US" sz="1000" dirty="0"/>
              <a:t>              .select("value")</a:t>
            </a:r>
          </a:p>
          <a:p>
            <a:r>
              <a:rPr lang="en-US" sz="1000" dirty="0"/>
              <a:t>              .</a:t>
            </a:r>
            <a:r>
              <a:rPr lang="en-US" sz="1000" dirty="0" err="1"/>
              <a:t>withColumn</a:t>
            </a:r>
            <a:r>
              <a:rPr lang="en-US" sz="1000" dirty="0"/>
              <a:t>("words", </a:t>
            </a:r>
            <a:r>
              <a:rPr lang="en-US" sz="1000" dirty="0" err="1"/>
              <a:t>f.split</a:t>
            </a:r>
            <a:r>
              <a:rPr lang="en-US" sz="1000" dirty="0"/>
              <a:t>("value", " "))</a:t>
            </a:r>
          </a:p>
          <a:p>
            <a:r>
              <a:rPr lang="en-US" sz="1000" dirty="0"/>
              <a:t>              .select("words")</a:t>
            </a:r>
          </a:p>
          <a:p>
            <a:r>
              <a:rPr lang="en-US" sz="1000" dirty="0"/>
              <a:t>              .</a:t>
            </a:r>
            <a:r>
              <a:rPr lang="en-US" sz="1000" dirty="0" err="1"/>
              <a:t>withColumn</a:t>
            </a:r>
            <a:r>
              <a:rPr lang="en-US" sz="1000" dirty="0"/>
              <a:t>("word", </a:t>
            </a:r>
            <a:r>
              <a:rPr lang="en-US" sz="1000" dirty="0" err="1"/>
              <a:t>f.explode</a:t>
            </a:r>
            <a:r>
              <a:rPr lang="en-US" sz="1000" dirty="0"/>
              <a:t>("words"))</a:t>
            </a:r>
          </a:p>
          <a:p>
            <a:r>
              <a:rPr lang="en-US" sz="1000" dirty="0"/>
              <a:t>              .</a:t>
            </a:r>
            <a:r>
              <a:rPr lang="en-US" sz="1000" dirty="0" err="1"/>
              <a:t>groupBy</a:t>
            </a:r>
            <a:r>
              <a:rPr lang="en-US" sz="1000" dirty="0"/>
              <a:t>("word")</a:t>
            </a:r>
          </a:p>
          <a:p>
            <a:r>
              <a:rPr lang="en-US" sz="1000" dirty="0"/>
              <a:t>              .count()</a:t>
            </a:r>
          </a:p>
          <a:p>
            <a:r>
              <a:rPr lang="en-US" sz="1000" dirty="0"/>
              <a:t>              .</a:t>
            </a:r>
            <a:r>
              <a:rPr lang="en-US" sz="1000" dirty="0" err="1"/>
              <a:t>orderBy</a:t>
            </a:r>
            <a:r>
              <a:rPr lang="en-US" sz="1000" dirty="0"/>
              <a:t>("count", ascending=False))</a:t>
            </a:r>
          </a:p>
          <a:p>
            <a:endParaRPr lang="en-US" sz="1000" dirty="0"/>
          </a:p>
          <a:p>
            <a:r>
              <a:rPr lang="en-US" sz="1000" dirty="0"/>
              <a:t># Display the results</a:t>
            </a:r>
          </a:p>
          <a:p>
            <a:r>
              <a:rPr lang="en-US" sz="1000" dirty="0" err="1"/>
              <a:t>word_count.show</a:t>
            </a:r>
            <a:r>
              <a:rPr lang="en-US" sz="1000" dirty="0"/>
              <a:t>(n=20, truncate=False)</a:t>
            </a:r>
          </a:p>
        </p:txBody>
      </p:sp>
    </p:spTree>
    <p:extLst>
      <p:ext uri="{BB962C8B-B14F-4D97-AF65-F5344CB8AC3E}">
        <p14:creationId xmlns:p14="http://schemas.microsoft.com/office/powerpoint/2010/main" val="6398364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CBCAACF-DDAD-0C2F-70D8-3C3D6E7A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62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AE679E-D6B9-9EE3-D92B-9508C3F3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5" y="2594045"/>
            <a:ext cx="8297380" cy="1326514"/>
          </a:xfrm>
        </p:spPr>
        <p:txBody>
          <a:bodyPr/>
          <a:lstStyle/>
          <a:p>
            <a:r>
              <a:rPr lang="en-US" dirty="0"/>
              <a:t>What did you learn ? </a:t>
            </a:r>
          </a:p>
        </p:txBody>
      </p:sp>
    </p:spTree>
    <p:extLst>
      <p:ext uri="{BB962C8B-B14F-4D97-AF65-F5344CB8AC3E}">
        <p14:creationId xmlns:p14="http://schemas.microsoft.com/office/powerpoint/2010/main" val="7351458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295DF-A097-F1E0-F4BA-F182A9B46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 3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4D8D6-C5C7-DA51-F267-B8F6E7EB62D7}"/>
              </a:ext>
            </a:extLst>
          </p:cNvPr>
          <p:cNvSpPr txBox="1"/>
          <p:nvPr/>
        </p:nvSpPr>
        <p:spPr>
          <a:xfrm>
            <a:off x="6601968" y="4599432"/>
            <a:ext cx="4754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Advanced  MR Concepts and Hadoop 2.0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7819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5852AFD-C3E1-D500-9A32-B9546638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Limitations of </a:t>
            </a:r>
            <a:r>
              <a:rPr lang="en-US"/>
              <a:t>Hadoop 1</a:t>
            </a:r>
            <a:endParaRPr lang="en-US" dirty="0"/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D4383954-646E-DCD0-CE49-740ED6EE8F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888" y="2043429"/>
            <a:ext cx="9948101" cy="392546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87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E756-AE15-4306-3706-71EF20EF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7CA98F7-6C7C-EA0D-4E8B-8EF6934F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65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BA9C0702-F858-8D3F-6AC6-957537FFCB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0AF6BB-7518-9AA2-0F50-AD0B74A80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766643"/>
              </p:ext>
            </p:extLst>
          </p:nvPr>
        </p:nvGraphicFramePr>
        <p:xfrm>
          <a:off x="1932813" y="3045968"/>
          <a:ext cx="4636135" cy="1186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369607031"/>
                    </a:ext>
                  </a:extLst>
                </a:gridCol>
                <a:gridCol w="2540635">
                  <a:extLst>
                    <a:ext uri="{9D8B030D-6E8A-4147-A177-3AD203B41FA5}">
                      <a16:colId xmlns:a16="http://schemas.microsoft.com/office/drawing/2014/main" val="1280521248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Hadoop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66B1A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Hadoop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66B1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352359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HDFS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HDFS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700084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MR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YARN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MR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v2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9438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B127BF-D0AE-44CE-D811-E2942364B435}"/>
              </a:ext>
            </a:extLst>
          </p:cNvPr>
          <p:cNvSpPr txBox="1"/>
          <p:nvPr/>
        </p:nvSpPr>
        <p:spPr>
          <a:xfrm>
            <a:off x="1524000" y="1041654"/>
            <a:ext cx="581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Hadoop 1 vs. Hadoop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B2696-BC0F-5430-B5A5-40BF69BE22E5}"/>
              </a:ext>
            </a:extLst>
          </p:cNvPr>
          <p:cNvSpPr txBox="1"/>
          <p:nvPr/>
        </p:nvSpPr>
        <p:spPr>
          <a:xfrm>
            <a:off x="1638300" y="2009775"/>
            <a:ext cx="493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YARN</a:t>
            </a:r>
            <a:r>
              <a:rPr lang="en-US" dirty="0"/>
              <a:t>: yet another resource negotiator</a:t>
            </a:r>
          </a:p>
        </p:txBody>
      </p:sp>
    </p:spTree>
    <p:extLst>
      <p:ext uri="{BB962C8B-B14F-4D97-AF65-F5344CB8AC3E}">
        <p14:creationId xmlns:p14="http://schemas.microsoft.com/office/powerpoint/2010/main" val="2209767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A80C-4239-EFF2-DD27-0B77CD85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19D92934-7DF6-73C4-AF49-C94FE096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66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5D0049BD-F043-B988-C0EE-921D4672F7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66</a:t>
            </a:fld>
            <a:endParaRPr 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7203DB1-F573-1F27-A65E-73AC11EE5857}"/>
              </a:ext>
            </a:extLst>
          </p:cNvPr>
          <p:cNvSpPr txBox="1">
            <a:spLocks/>
          </p:cNvSpPr>
          <p:nvPr/>
        </p:nvSpPr>
        <p:spPr>
          <a:xfrm>
            <a:off x="1481474" y="2141097"/>
            <a:ext cx="528193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0" spc="-20" dirty="0">
                <a:latin typeface="Arial"/>
                <a:cs typeface="Arial"/>
              </a:rPr>
              <a:t>YARN</a:t>
            </a:r>
          </a:p>
          <a:p>
            <a:pPr marL="12700">
              <a:lnSpc>
                <a:spcPct val="100000"/>
              </a:lnSpc>
            </a:pPr>
            <a:r>
              <a:rPr lang="en-US" sz="2000" b="0" spc="-100" dirty="0">
                <a:latin typeface="Arial"/>
                <a:cs typeface="Arial"/>
              </a:rPr>
              <a:t>Yet</a:t>
            </a:r>
            <a:r>
              <a:rPr lang="en-US" sz="2000" b="0" spc="35" dirty="0">
                <a:latin typeface="Arial"/>
                <a:cs typeface="Arial"/>
              </a:rPr>
              <a:t> </a:t>
            </a:r>
            <a:r>
              <a:rPr lang="en-US" sz="2000" b="0" dirty="0">
                <a:latin typeface="Arial"/>
                <a:cs typeface="Arial"/>
              </a:rPr>
              <a:t>Another</a:t>
            </a:r>
            <a:r>
              <a:rPr lang="en-US" sz="2000" b="0" spc="40" dirty="0">
                <a:latin typeface="Arial"/>
                <a:cs typeface="Arial"/>
              </a:rPr>
              <a:t> </a:t>
            </a:r>
            <a:r>
              <a:rPr lang="en-US" sz="2000" b="0" spc="-75" dirty="0">
                <a:latin typeface="Arial"/>
                <a:cs typeface="Arial"/>
              </a:rPr>
              <a:t>Resource</a:t>
            </a:r>
            <a:r>
              <a:rPr lang="en-US" sz="2000" b="0" spc="40" dirty="0">
                <a:latin typeface="Arial"/>
                <a:cs typeface="Arial"/>
              </a:rPr>
              <a:t> </a:t>
            </a:r>
            <a:r>
              <a:rPr lang="en-US" sz="2000" b="0" spc="55" dirty="0">
                <a:latin typeface="Arial"/>
                <a:cs typeface="Arial"/>
              </a:rPr>
              <a:t>Negotiator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9DC7003-787F-543D-1D93-80ED80CBF95E}"/>
              </a:ext>
            </a:extLst>
          </p:cNvPr>
          <p:cNvSpPr txBox="1"/>
          <p:nvPr/>
        </p:nvSpPr>
        <p:spPr>
          <a:xfrm>
            <a:off x="1481474" y="3297459"/>
            <a:ext cx="93872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spc="-114" dirty="0">
                <a:latin typeface="Arial"/>
                <a:cs typeface="Arial"/>
              </a:rPr>
              <a:t>YARN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provides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more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generalized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flexible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system</a:t>
            </a:r>
            <a:r>
              <a:rPr sz="2100" spc="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for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managing</a:t>
            </a:r>
            <a:r>
              <a:rPr sz="2100" spc="50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resources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scheduling</a:t>
            </a:r>
            <a:r>
              <a:rPr sz="2100" spc="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jobs</a:t>
            </a:r>
            <a:r>
              <a:rPr sz="2100" spc="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within</a:t>
            </a:r>
            <a:r>
              <a:rPr sz="2100" spc="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</a:t>
            </a:r>
            <a:r>
              <a:rPr sz="2100" spc="10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Hadoop</a:t>
            </a:r>
            <a:r>
              <a:rPr sz="2100" spc="10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cluster</a:t>
            </a:r>
            <a:endParaRPr sz="21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80526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4299-810D-DC21-A947-5E9E6F11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ED45DB9-D186-8C4F-B6B5-E6A04DFA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67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7897CB5-48B7-D292-0F2E-E5FD3B5401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67</a:t>
            </a:fld>
            <a:endParaRPr lang="en-US"/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EF92EAD6-E99A-D18C-E857-578A53C738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0230" y="1674058"/>
            <a:ext cx="6756966" cy="4496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6C384-09EF-2215-A8A2-E78ECA2DD558}"/>
              </a:ext>
            </a:extLst>
          </p:cNvPr>
          <p:cNvSpPr txBox="1"/>
          <p:nvPr/>
        </p:nvSpPr>
        <p:spPr>
          <a:xfrm>
            <a:off x="1657350" y="752475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Working: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F79935E-AFDA-C3E6-E568-8E8213AE517F}"/>
              </a:ext>
            </a:extLst>
          </p:cNvPr>
          <p:cNvSpPr txBox="1"/>
          <p:nvPr/>
        </p:nvSpPr>
        <p:spPr>
          <a:xfrm>
            <a:off x="2384499" y="6358502"/>
            <a:ext cx="6647815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35"/>
              </a:lnSpc>
            </a:pPr>
            <a:r>
              <a:rPr sz="1500" dirty="0">
                <a:latin typeface="Arial"/>
                <a:cs typeface="Arial"/>
                <a:hlinkClick r:id="rId3"/>
              </a:rPr>
              <a:t>https://www.geeksforgeeks.org/difference-between-hadoop-1-and-hadoop-</a:t>
            </a:r>
            <a:r>
              <a:rPr sz="1500" spc="-25" dirty="0">
                <a:latin typeface="Arial"/>
                <a:cs typeface="Arial"/>
                <a:hlinkClick r:id="rId3"/>
              </a:rPr>
              <a:t>2/</a:t>
            </a:r>
            <a:endParaRPr sz="1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62836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A44D9-B1EB-B3EE-E4A4-54E022D5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DE562-ED94-5196-ADB0-D7C8482F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D928A-5665-BE39-50E0-50B4CFB1D5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514856"/>
            <a:ext cx="8324089" cy="349300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Arial"/>
                <a:cs typeface="Arial"/>
              </a:rPr>
              <a:t>Hadoop</a:t>
            </a:r>
            <a:r>
              <a:rPr lang="en-US" sz="2000" spc="9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1:</a:t>
            </a:r>
            <a:r>
              <a:rPr lang="en-US" sz="2000" spc="10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one</a:t>
            </a:r>
            <a:r>
              <a:rPr lang="en-US" sz="2000" spc="9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master</a:t>
            </a:r>
            <a:r>
              <a:rPr lang="en-US" sz="2000" spc="10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and</a:t>
            </a:r>
            <a:r>
              <a:rPr lang="en-US" sz="2000" spc="10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multiple</a:t>
            </a:r>
            <a:r>
              <a:rPr lang="en-US" sz="2000" spc="95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slaves</a:t>
            </a:r>
            <a:endParaRPr lang="en-US" sz="2000" dirty="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1200"/>
              </a:spcBef>
            </a:pPr>
            <a:r>
              <a:rPr lang="en-US" sz="2000" dirty="0">
                <a:latin typeface="Arial"/>
                <a:cs typeface="Arial"/>
              </a:rPr>
              <a:t>Hadoop</a:t>
            </a:r>
            <a:r>
              <a:rPr lang="en-US" sz="2000" spc="5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2:</a:t>
            </a:r>
            <a:r>
              <a:rPr lang="en-US" sz="2000" spc="5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multiple</a:t>
            </a:r>
            <a:r>
              <a:rPr lang="en-US" sz="2000" spc="6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master</a:t>
            </a:r>
            <a:r>
              <a:rPr lang="en-US" sz="2000" spc="5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nodes</a:t>
            </a:r>
            <a:r>
              <a:rPr lang="en-US" sz="2000" spc="60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(</a:t>
            </a:r>
            <a:r>
              <a:rPr lang="en-US" sz="2000" spc="-10" dirty="0" err="1">
                <a:latin typeface="Arial"/>
                <a:cs typeface="Arial"/>
              </a:rPr>
              <a:t>namenodes</a:t>
            </a:r>
            <a:r>
              <a:rPr lang="en-US" sz="2000" spc="5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and</a:t>
            </a:r>
            <a:r>
              <a:rPr lang="en-US" sz="2000" spc="60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standby </a:t>
            </a:r>
            <a:r>
              <a:rPr lang="en-US" sz="2000" spc="-10" dirty="0" err="1">
                <a:latin typeface="Arial"/>
                <a:cs typeface="Arial"/>
              </a:rPr>
              <a:t>namenodes</a:t>
            </a:r>
            <a:r>
              <a:rPr lang="en-US" sz="2000" spc="-10" dirty="0">
                <a:latin typeface="Arial"/>
                <a:cs typeface="Arial"/>
              </a:rPr>
              <a:t>)</a:t>
            </a:r>
            <a:r>
              <a:rPr lang="en-US" sz="2000" spc="8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and</a:t>
            </a:r>
            <a:r>
              <a:rPr lang="en-US" sz="2000" spc="8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multiple</a:t>
            </a:r>
            <a:r>
              <a:rPr lang="en-US" sz="2000" spc="80" dirty="0">
                <a:latin typeface="Arial"/>
                <a:cs typeface="Arial"/>
              </a:rPr>
              <a:t> </a:t>
            </a:r>
            <a:r>
              <a:rPr lang="en-US" sz="2000" spc="-10" dirty="0">
                <a:latin typeface="Arial"/>
                <a:cs typeface="Arial"/>
              </a:rPr>
              <a:t>slaves</a:t>
            </a:r>
            <a:endParaRPr lang="en-US" sz="2000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0861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40EC-D6B9-2432-4E69-56743C96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8C2D0-A443-978A-0260-C59B8785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69</a:t>
            </a:fld>
            <a:endParaRPr lang="en-US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D0D3F5FD-168D-EC7F-14F9-2085CEB16F9D}"/>
              </a:ext>
            </a:extLst>
          </p:cNvPr>
          <p:cNvGraphicFramePr>
            <a:graphicFrameLocks noGrp="1"/>
          </p:cNvGraphicFramePr>
          <p:nvPr/>
        </p:nvGraphicFramePr>
        <p:xfrm>
          <a:off x="1031360" y="1930833"/>
          <a:ext cx="6265544" cy="2865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Hadoop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66B1A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Hadoop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66B1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Namenode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Namenode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Datanode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Datanode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Sec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Namenode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Sec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Namenode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Job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Tracker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Resource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Manager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40" dirty="0">
                          <a:latin typeface="Arial"/>
                          <a:cs typeface="Arial"/>
                        </a:rPr>
                        <a:t>Task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Tracker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Node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Manager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564261-EFDF-52D4-4D59-CF6783E21D0F}"/>
              </a:ext>
            </a:extLst>
          </p:cNvPr>
          <p:cNvSpPr txBox="1"/>
          <p:nvPr/>
        </p:nvSpPr>
        <p:spPr>
          <a:xfrm>
            <a:off x="911352" y="594360"/>
            <a:ext cx="3029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Daemons:</a:t>
            </a:r>
          </a:p>
        </p:txBody>
      </p:sp>
    </p:spTree>
    <p:extLst>
      <p:ext uri="{BB962C8B-B14F-4D97-AF65-F5344CB8AC3E}">
        <p14:creationId xmlns:p14="http://schemas.microsoft.com/office/powerpoint/2010/main" val="15128135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D87A-511A-ED0A-56EB-C11A590D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40D41-23E6-C826-C6E8-538B9B7E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6DEBA-BEF5-8924-0387-CE1AFBB0CD90}"/>
              </a:ext>
            </a:extLst>
          </p:cNvPr>
          <p:cNvSpPr txBox="1"/>
          <p:nvPr/>
        </p:nvSpPr>
        <p:spPr>
          <a:xfrm>
            <a:off x="1972056" y="2825496"/>
            <a:ext cx="556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Hadoop 1: No Windows</a:t>
            </a:r>
          </a:p>
          <a:p>
            <a:r>
              <a:rPr lang="en-US" sz="3200" b="1" dirty="0"/>
              <a:t>Hadoop 2: Yes</a:t>
            </a:r>
          </a:p>
        </p:txBody>
      </p:sp>
    </p:spTree>
    <p:extLst>
      <p:ext uri="{BB962C8B-B14F-4D97-AF65-F5344CB8AC3E}">
        <p14:creationId xmlns:p14="http://schemas.microsoft.com/office/powerpoint/2010/main" val="17560733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9BACC-E334-AEE8-9C03-58380BE7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54747-EE03-D73E-11B7-B230D1DE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4E7A9C45-3E93-8EB9-1327-2ACA1D514B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8" y="299324"/>
            <a:ext cx="8229583" cy="636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129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A8FA-4737-44D2-83A6-575B6CBF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9F8E4-F5AE-D948-CD6C-E2069B9A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72</a:t>
            </a:fld>
            <a:endParaRPr lang="en-US" dirty="0"/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0CFB4365-B60B-B07B-94CD-3FED1C72C178}"/>
              </a:ext>
            </a:extLst>
          </p:cNvPr>
          <p:cNvGrpSpPr/>
          <p:nvPr/>
        </p:nvGrpSpPr>
        <p:grpSpPr>
          <a:xfrm>
            <a:off x="1427272" y="152399"/>
            <a:ext cx="10765155" cy="6705600"/>
            <a:chOff x="1427272" y="152399"/>
            <a:chExt cx="10765155" cy="670560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D112FE88-6E1D-05EE-5E0C-A1DD05A2F8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5455" y="264699"/>
              <a:ext cx="2776519" cy="6593286"/>
            </a:xfrm>
            <a:prstGeom prst="rect">
              <a:avLst/>
            </a:prstGeom>
          </p:spPr>
        </p:pic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AC8013F8-2EE7-CBE7-8ED4-A12C3401EB6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7272" y="152399"/>
              <a:ext cx="7956508" cy="6445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1078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249C-BAD8-0E9B-D529-D0158C77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and Spark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90A62-E59F-8A11-B4C3-56C5D72F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73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3FC9CD-1EC6-098D-021D-5F7C9C996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157487"/>
              </p:ext>
            </p:extLst>
          </p:nvPr>
        </p:nvGraphicFramePr>
        <p:xfrm>
          <a:off x="893064" y="1873504"/>
          <a:ext cx="8561832" cy="41523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280916">
                  <a:extLst>
                    <a:ext uri="{9D8B030D-6E8A-4147-A177-3AD203B41FA5}">
                      <a16:colId xmlns:a16="http://schemas.microsoft.com/office/drawing/2014/main" val="1522478682"/>
                    </a:ext>
                  </a:extLst>
                </a:gridCol>
                <a:gridCol w="4280916">
                  <a:extLst>
                    <a:ext uri="{9D8B030D-6E8A-4147-A177-3AD203B41FA5}">
                      <a16:colId xmlns:a16="http://schemas.microsoft.com/office/drawing/2014/main" val="1049285244"/>
                    </a:ext>
                  </a:extLst>
                </a:gridCol>
              </a:tblGrid>
              <a:tr h="542262">
                <a:tc>
                  <a:txBody>
                    <a:bodyPr/>
                    <a:lstStyle/>
                    <a:p>
                      <a:r>
                        <a:rPr lang="en-US" dirty="0"/>
                        <a:t>Hadoop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415958"/>
                  </a:ext>
                </a:extLst>
              </a:tr>
              <a:tr h="1337085">
                <a:tc>
                  <a:txBody>
                    <a:bodyPr/>
                    <a:lstStyle/>
                    <a:p>
                      <a:r>
                        <a:rPr lang="en-US" dirty="0"/>
                        <a:t>HDFS:  a distributed file system that stores data across multiple machines.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Unified  Analytics Engine: for fast computation, batch, real-time, and iterative algorithms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350310"/>
                  </a:ext>
                </a:extLst>
              </a:tr>
              <a:tr h="1337085">
                <a:tc>
                  <a:txBody>
                    <a:bodyPr/>
                    <a:lstStyle/>
                    <a:p>
                      <a:r>
                        <a:rPr lang="en-US" dirty="0"/>
                        <a:t>MapReduce: A programming model for processing large datasets with a distributed algorithm on a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In-Memory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995831"/>
                  </a:ext>
                </a:extLst>
              </a:tr>
              <a:tr h="935960">
                <a:tc>
                  <a:txBody>
                    <a:bodyPr/>
                    <a:lstStyle/>
                    <a:p>
                      <a:r>
                        <a:rPr lang="en-US" dirty="0"/>
                        <a:t>Hadoop Ecosystem: Hive (SQL queries), Pig (data flow), </a:t>
                      </a:r>
                      <a:r>
                        <a:rPr lang="en-US" dirty="0" err="1"/>
                        <a:t>Hbase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Ease of Use APIs for Java, Scala, Python, and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08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2895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CBCAACF-DDAD-0C2F-70D8-3C3D6E7A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74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74</a:t>
            </a:fld>
            <a:endParaRPr lang="en-US"/>
          </a:p>
        </p:txBody>
      </p:sp>
      <p:pic>
        <p:nvPicPr>
          <p:cNvPr id="2050" name="Picture 2" descr="Hadoop-Kafka-Spark Architecture Diagram: How Spark works together with Hadoop and Kafka">
            <a:extLst>
              <a:ext uri="{FF2B5EF4-FFF2-40B4-BE49-F238E27FC236}">
                <a16:creationId xmlns:a16="http://schemas.microsoft.com/office/drawing/2014/main" id="{6F3A607B-2949-4B79-A610-6A10A5BB7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57175"/>
            <a:ext cx="9753600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D3F553-31C6-C3D5-6598-0EE2434C5B35}"/>
              </a:ext>
            </a:extLst>
          </p:cNvPr>
          <p:cNvSpPr txBox="1"/>
          <p:nvPr/>
        </p:nvSpPr>
        <p:spPr>
          <a:xfrm>
            <a:off x="434109" y="5757156"/>
            <a:ext cx="652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Source:logz.io</a:t>
            </a:r>
            <a:r>
              <a:rPr lang="en-US" dirty="0"/>
              <a:t>/blog/Hadoop-vs-spark</a:t>
            </a:r>
          </a:p>
        </p:txBody>
      </p:sp>
    </p:spTree>
    <p:extLst>
      <p:ext uri="{BB962C8B-B14F-4D97-AF65-F5344CB8AC3E}">
        <p14:creationId xmlns:p14="http://schemas.microsoft.com/office/powerpoint/2010/main" val="5050026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park">
            <a:hlinkClick r:id="rId2" tooltip="Comparing Apache Hive vs. Spark"/>
            <a:extLst>
              <a:ext uri="{FF2B5EF4-FFF2-40B4-BE49-F238E27FC236}">
                <a16:creationId xmlns:a16="http://schemas.microsoft.com/office/drawing/2014/main" id="{0F139250-2675-E7D9-4E64-5695D04D4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6641" y="683491"/>
            <a:ext cx="9356637" cy="484206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CBCAACF-DDAD-0C2F-70D8-3C3D6E7A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75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B14C4-18B2-24A3-822C-411FDB368032}"/>
              </a:ext>
            </a:extLst>
          </p:cNvPr>
          <p:cNvSpPr txBox="1"/>
          <p:nvPr/>
        </p:nvSpPr>
        <p:spPr>
          <a:xfrm>
            <a:off x="1708728" y="5805177"/>
            <a:ext cx="652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Source:logz.io</a:t>
            </a:r>
            <a:r>
              <a:rPr lang="en-US" dirty="0"/>
              <a:t>/blog/Hadoop-vs-spark</a:t>
            </a:r>
          </a:p>
        </p:txBody>
      </p:sp>
    </p:spTree>
    <p:extLst>
      <p:ext uri="{BB962C8B-B14F-4D97-AF65-F5344CB8AC3E}">
        <p14:creationId xmlns:p14="http://schemas.microsoft.com/office/powerpoint/2010/main" val="22354628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agrams how Hadoop and Spark process data">
            <a:extLst>
              <a:ext uri="{FF2B5EF4-FFF2-40B4-BE49-F238E27FC236}">
                <a16:creationId xmlns:a16="http://schemas.microsoft.com/office/drawing/2014/main" id="{00980275-E8CA-FF7B-A2D0-5D27250D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11229" y="68263"/>
            <a:ext cx="5769542" cy="644683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76</a:t>
            </a:fld>
            <a:endParaRPr lang="en-US"/>
          </a:p>
        </p:txBody>
      </p:sp>
      <p:sp>
        <p:nvSpPr>
          <p:cNvPr id="13" name="Slide Number Placeholder 3" hidden="1">
            <a:extLst>
              <a:ext uri="{FF2B5EF4-FFF2-40B4-BE49-F238E27FC236}">
                <a16:creationId xmlns:a16="http://schemas.microsoft.com/office/drawing/2014/main" id="{3CBCAACF-DDAD-0C2F-70D8-3C3D6E7A7A0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3A82F-9FC4-0752-FEA6-4CD2C9ABFAA3}"/>
              </a:ext>
            </a:extLst>
          </p:cNvPr>
          <p:cNvSpPr txBox="1"/>
          <p:nvPr/>
        </p:nvSpPr>
        <p:spPr>
          <a:xfrm>
            <a:off x="9404004" y="5501086"/>
            <a:ext cx="2565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Hadoop vs Spark: Detailed Comparison of Big Data Frameworks (phoenixnap.com)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723409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CD53-CA89-5201-3EE6-6DB78ECE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3888BD3-1CAE-1328-91EA-D6433FCABA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77</a:t>
            </a:fld>
            <a:endParaRPr lang="en-US"/>
          </a:p>
        </p:txBody>
      </p:sp>
      <p:sp>
        <p:nvSpPr>
          <p:cNvPr id="13" name="Slide Number Placeholder 3" hidden="1">
            <a:extLst>
              <a:ext uri="{FF2B5EF4-FFF2-40B4-BE49-F238E27FC236}">
                <a16:creationId xmlns:a16="http://schemas.microsoft.com/office/drawing/2014/main" id="{03D3827C-EBE9-A12D-FDA5-B71005294E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77</a:t>
            </a:fld>
            <a:endParaRPr lang="en-US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9509E765-AA4E-23FC-11C7-0A46BC51F3C7}"/>
              </a:ext>
            </a:extLst>
          </p:cNvPr>
          <p:cNvSpPr txBox="1"/>
          <p:nvPr/>
        </p:nvSpPr>
        <p:spPr>
          <a:xfrm>
            <a:off x="871292" y="745800"/>
            <a:ext cx="9568815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7210" indent="-52451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37210" algn="l"/>
              </a:tabLst>
            </a:pPr>
            <a:r>
              <a:rPr sz="2800" spc="-10" dirty="0">
                <a:latin typeface="Arial"/>
                <a:cs typeface="Arial"/>
              </a:rPr>
              <a:t>Integration</a:t>
            </a:r>
            <a:endParaRPr sz="2800" dirty="0">
              <a:latin typeface="Arial"/>
              <a:cs typeface="Arial"/>
            </a:endParaRPr>
          </a:p>
          <a:p>
            <a:pPr marL="537210" marR="508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Storage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Backbone;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Locality;Resource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management, </a:t>
            </a:r>
            <a:r>
              <a:rPr sz="2800" spc="85" dirty="0">
                <a:latin typeface="Arial"/>
                <a:cs typeface="Arial"/>
              </a:rPr>
              <a:t>job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scheduling</a:t>
            </a:r>
            <a:endParaRPr sz="2800" dirty="0">
              <a:latin typeface="Arial"/>
              <a:cs typeface="Arial"/>
            </a:endParaRPr>
          </a:p>
          <a:p>
            <a:pPr marL="537210" indent="-524510">
              <a:lnSpc>
                <a:spcPct val="100000"/>
              </a:lnSpc>
              <a:buAutoNum type="arabicPeriod" startAt="2"/>
              <a:tabLst>
                <a:tab pos="537210" algn="l"/>
              </a:tabLst>
            </a:pPr>
            <a:r>
              <a:rPr sz="2800" spc="-10" dirty="0">
                <a:latin typeface="Arial"/>
                <a:cs typeface="Arial"/>
              </a:rPr>
              <a:t>Operation</a:t>
            </a:r>
            <a:endParaRPr sz="2800" dirty="0">
              <a:latin typeface="Arial"/>
              <a:cs typeface="Arial"/>
            </a:endParaRPr>
          </a:p>
          <a:p>
            <a:pPr marL="537210" marR="691515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Cost,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simplified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management,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governance,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and </a:t>
            </a:r>
            <a:r>
              <a:rPr sz="2800" spc="-10" dirty="0">
                <a:latin typeface="Arial"/>
                <a:cs typeface="Arial"/>
              </a:rPr>
              <a:t>security</a:t>
            </a:r>
            <a:endParaRPr sz="2800" dirty="0">
              <a:latin typeface="Arial"/>
              <a:cs typeface="Arial"/>
            </a:endParaRPr>
          </a:p>
          <a:p>
            <a:pPr marL="537210" marR="4912995" indent="-525145">
              <a:lnSpc>
                <a:spcPct val="100000"/>
              </a:lnSpc>
              <a:buAutoNum type="arabicPeriod" startAt="3"/>
              <a:tabLst>
                <a:tab pos="537210" algn="l"/>
              </a:tabLst>
            </a:pPr>
            <a:r>
              <a:rPr sz="2800" spc="-10" dirty="0">
                <a:latin typeface="Arial"/>
                <a:cs typeface="Arial"/>
              </a:rPr>
              <a:t>Performance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Serialization, </a:t>
            </a:r>
            <a:r>
              <a:rPr sz="2800" spc="-10" dirty="0">
                <a:latin typeface="Arial"/>
                <a:cs typeface="Arial"/>
              </a:rPr>
              <a:t>compression</a:t>
            </a:r>
            <a:endParaRPr sz="2800" dirty="0">
              <a:latin typeface="Arial"/>
              <a:cs typeface="Arial"/>
            </a:endParaRPr>
          </a:p>
          <a:p>
            <a:pPr marL="537210" marR="7185659" indent="-525145">
              <a:lnSpc>
                <a:spcPct val="100000"/>
              </a:lnSpc>
              <a:buAutoNum type="arabicPeriod" startAt="3"/>
              <a:tabLst>
                <a:tab pos="537210" algn="l"/>
              </a:tabLst>
            </a:pPr>
            <a:r>
              <a:rPr sz="2800" spc="-10" dirty="0">
                <a:latin typeface="Arial"/>
                <a:cs typeface="Arial"/>
              </a:rPr>
              <a:t>Community Ecosystem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33317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F382-8752-0C91-8BB4-CD12ECF8A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35A229C-B058-2A0D-5FB3-3E6A671F36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78</a:t>
            </a:fld>
            <a:endParaRPr lang="en-US"/>
          </a:p>
        </p:txBody>
      </p:sp>
      <p:sp>
        <p:nvSpPr>
          <p:cNvPr id="13" name="Slide Number Placeholder 3" hidden="1">
            <a:extLst>
              <a:ext uri="{FF2B5EF4-FFF2-40B4-BE49-F238E27FC236}">
                <a16:creationId xmlns:a16="http://schemas.microsoft.com/office/drawing/2014/main" id="{7899170F-6620-D630-70AA-528499A27B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78</a:t>
            </a:fld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C2C54CB5-8CD7-719C-FB13-2CB57B0BE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75" y="6857986"/>
                </a:moveTo>
                <a:lnTo>
                  <a:pt x="0" y="6857986"/>
                </a:lnTo>
                <a:lnTo>
                  <a:pt x="0" y="0"/>
                </a:lnTo>
                <a:lnTo>
                  <a:pt x="12191975" y="0"/>
                </a:lnTo>
                <a:lnTo>
                  <a:pt x="12191975" y="6857986"/>
                </a:lnTo>
                <a:close/>
              </a:path>
            </a:pathLst>
          </a:custGeom>
          <a:solidFill>
            <a:srgbClr val="FDF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0C4ED95-4929-FEED-9D5E-DB54870868D9}"/>
              </a:ext>
            </a:extLst>
          </p:cNvPr>
          <p:cNvSpPr txBox="1"/>
          <p:nvPr/>
        </p:nvSpPr>
        <p:spPr>
          <a:xfrm>
            <a:off x="987422" y="800479"/>
            <a:ext cx="10186035" cy="505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029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52729" algn="l"/>
              </a:tabLst>
            </a:pPr>
            <a:r>
              <a:rPr sz="1700" dirty="0">
                <a:latin typeface="Arial"/>
                <a:cs typeface="Arial"/>
              </a:rPr>
              <a:t>Supercomputer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Manager: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</a:pP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00" spc="-105" dirty="0">
                <a:latin typeface="Arial"/>
                <a:cs typeface="Arial"/>
              </a:rPr>
              <a:t>YARN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is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like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boss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supercomputer.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tells</a:t>
            </a:r>
            <a:r>
              <a:rPr sz="1700" b="1" spc="-1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the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supercomputer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what</a:t>
            </a:r>
            <a:r>
              <a:rPr sz="1700" b="1" spc="-1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to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do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when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to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do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it.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700" dirty="0">
              <a:latin typeface="Arial"/>
              <a:cs typeface="Arial"/>
            </a:endParaRPr>
          </a:p>
          <a:p>
            <a:pPr marL="12700" marR="251460" indent="240029">
              <a:lnSpc>
                <a:spcPct val="114999"/>
              </a:lnSpc>
              <a:buAutoNum type="arabicPeriod" startAt="2"/>
              <a:tabLst>
                <a:tab pos="252729" algn="l"/>
              </a:tabLst>
            </a:pPr>
            <a:r>
              <a:rPr sz="1700" dirty="0">
                <a:latin typeface="Arial"/>
                <a:cs typeface="Arial"/>
              </a:rPr>
              <a:t>Job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Organizer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supercomputers: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When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people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want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to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use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supercomputer,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they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tell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YARN </a:t>
            </a:r>
            <a:r>
              <a:rPr sz="1700" dirty="0">
                <a:latin typeface="Arial"/>
                <a:cs typeface="Arial"/>
              </a:rPr>
              <a:t>what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they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want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to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do.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YARN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figures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out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how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much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brainpower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memory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they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need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then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finds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a </a:t>
            </a:r>
            <a:r>
              <a:rPr sz="1700" spc="65" dirty="0">
                <a:latin typeface="Arial"/>
                <a:cs typeface="Arial"/>
              </a:rPr>
              <a:t>good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spot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for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them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to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work.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Arial"/>
              <a:buAutoNum type="arabicPeriod" startAt="2"/>
            </a:pPr>
            <a:endParaRPr sz="1700" dirty="0">
              <a:latin typeface="Arial"/>
              <a:cs typeface="Arial"/>
            </a:endParaRPr>
          </a:p>
          <a:p>
            <a:pPr marL="12700" marR="410845" indent="240029">
              <a:lnSpc>
                <a:spcPct val="114999"/>
              </a:lnSpc>
              <a:spcBef>
                <a:spcPts val="5"/>
              </a:spcBef>
              <a:buAutoNum type="arabicPeriod" startAt="2"/>
              <a:tabLst>
                <a:tab pos="252729" algn="l"/>
              </a:tabLst>
            </a:pPr>
            <a:r>
              <a:rPr sz="1700" dirty="0">
                <a:latin typeface="Arial"/>
                <a:cs typeface="Arial"/>
              </a:rPr>
              <a:t>Checking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In: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YARN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spc="-120" dirty="0">
                <a:latin typeface="Arial"/>
                <a:cs typeface="Arial"/>
              </a:rPr>
              <a:t>checks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in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30" dirty="0">
                <a:latin typeface="Arial"/>
                <a:cs typeface="Arial"/>
              </a:rPr>
              <a:t>with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the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people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while </a:t>
            </a:r>
            <a:r>
              <a:rPr sz="1700" b="1" spc="-30" dirty="0">
                <a:latin typeface="Arial"/>
                <a:cs typeface="Arial"/>
              </a:rPr>
              <a:t>they're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using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the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supercomputer</a:t>
            </a:r>
            <a:r>
              <a:rPr sz="1700" spc="-60" dirty="0">
                <a:latin typeface="Arial"/>
                <a:cs typeface="Arial"/>
              </a:rPr>
              <a:t>.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makes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sure </a:t>
            </a:r>
            <a:r>
              <a:rPr sz="1700" dirty="0">
                <a:latin typeface="Arial"/>
                <a:cs typeface="Arial"/>
              </a:rPr>
              <a:t>they're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not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hogging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all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resources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that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everything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is</a:t>
            </a:r>
            <a:r>
              <a:rPr sz="1700" spc="6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going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smoothly.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Arial"/>
              <a:buAutoNum type="arabicPeriod" startAt="2"/>
            </a:pPr>
            <a:endParaRPr sz="1700" dirty="0">
              <a:latin typeface="Arial"/>
              <a:cs typeface="Arial"/>
            </a:endParaRPr>
          </a:p>
          <a:p>
            <a:pPr marL="12700" marR="1303655" indent="240029">
              <a:lnSpc>
                <a:spcPct val="114999"/>
              </a:lnSpc>
              <a:buAutoNum type="arabicPeriod" startAt="2"/>
              <a:tabLst>
                <a:tab pos="252729" algn="l"/>
              </a:tabLst>
            </a:pPr>
            <a:r>
              <a:rPr sz="1700" dirty="0">
                <a:latin typeface="Arial"/>
                <a:cs typeface="Arial"/>
              </a:rPr>
              <a:t>Keeping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Everyone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Happy: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YARN's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main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job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is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to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keep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everyone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happy!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makes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sure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the </a:t>
            </a:r>
            <a:r>
              <a:rPr sz="1700" dirty="0">
                <a:latin typeface="Arial"/>
                <a:cs typeface="Arial"/>
              </a:rPr>
              <a:t>supercomputer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is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being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used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efficiently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so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all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people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can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have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fun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learn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new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things.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700" dirty="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</a:pPr>
            <a:r>
              <a:rPr sz="1700" spc="-20" dirty="0">
                <a:latin typeface="Arial"/>
                <a:cs typeface="Arial"/>
              </a:rPr>
              <a:t>So,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remember,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next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time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you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want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use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big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supercomputer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like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Hadoop,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thank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YARN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for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making</a:t>
            </a:r>
            <a:r>
              <a:rPr sz="1700" spc="-25" dirty="0">
                <a:latin typeface="Arial"/>
                <a:cs typeface="Arial"/>
              </a:rPr>
              <a:t> it </a:t>
            </a:r>
            <a:r>
              <a:rPr sz="1700" dirty="0">
                <a:latin typeface="Arial"/>
                <a:cs typeface="Arial"/>
              </a:rPr>
              <a:t>possible! It's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like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having your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own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supercomputer manager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make </a:t>
            </a:r>
            <a:r>
              <a:rPr sz="1700" spc="-25" dirty="0">
                <a:latin typeface="Arial"/>
                <a:cs typeface="Arial"/>
              </a:rPr>
              <a:t>sure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everything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runs</a:t>
            </a:r>
            <a:r>
              <a:rPr sz="1700" dirty="0">
                <a:latin typeface="Arial"/>
                <a:cs typeface="Arial"/>
              </a:rPr>
              <a:t> smoothly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and </a:t>
            </a:r>
            <a:r>
              <a:rPr sz="1700" dirty="0">
                <a:latin typeface="Arial"/>
                <a:cs typeface="Arial"/>
              </a:rPr>
              <a:t>everyone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gets a turn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to</a:t>
            </a:r>
            <a:r>
              <a:rPr sz="1700" dirty="0">
                <a:latin typeface="Arial"/>
                <a:cs typeface="Arial"/>
              </a:rPr>
              <a:t> play and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learn.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D71A2-6FD2-F711-32A0-E32E188DE724}"/>
              </a:ext>
            </a:extLst>
          </p:cNvPr>
          <p:cNvSpPr txBox="1"/>
          <p:nvPr/>
        </p:nvSpPr>
        <p:spPr>
          <a:xfrm>
            <a:off x="905256" y="219456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YARN WORKS:</a:t>
            </a:r>
          </a:p>
        </p:txBody>
      </p:sp>
    </p:spTree>
    <p:extLst>
      <p:ext uri="{BB962C8B-B14F-4D97-AF65-F5344CB8AC3E}">
        <p14:creationId xmlns:p14="http://schemas.microsoft.com/office/powerpoint/2010/main" val="16917757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CBCAACF-DDAD-0C2F-70D8-3C3D6E7A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79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EA5B12-0B29-BF5B-3CDD-1D96C7DA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248" y="2120140"/>
            <a:ext cx="8297380" cy="1326514"/>
          </a:xfrm>
        </p:spPr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colab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93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CBCAACF-DDAD-0C2F-70D8-3C3D6E7A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80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CA186-142A-194D-35F1-37FB6452EAA2}"/>
              </a:ext>
            </a:extLst>
          </p:cNvPr>
          <p:cNvSpPr txBox="1"/>
          <p:nvPr/>
        </p:nvSpPr>
        <p:spPr>
          <a:xfrm>
            <a:off x="1216152" y="2240280"/>
            <a:ext cx="7132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is crucial for ensuring that all values associated with the same key are sent to the same reducer.</a:t>
            </a:r>
          </a:p>
          <a:p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By default,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 hash value for each key is computed and assigns the key-value pair to a reducer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combiner function is similar to a reducer but operates on the output of the map function before it is shuffled and sent to the reducers.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3E711-E0BF-253A-D86E-77684622B06D}"/>
              </a:ext>
            </a:extLst>
          </p:cNvPr>
          <p:cNvSpPr txBox="1"/>
          <p:nvPr/>
        </p:nvSpPr>
        <p:spPr>
          <a:xfrm>
            <a:off x="1258824" y="1358997"/>
            <a:ext cx="2990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Remember</a:t>
            </a:r>
          </a:p>
        </p:txBody>
      </p:sp>
    </p:spTree>
    <p:extLst>
      <p:ext uri="{BB962C8B-B14F-4D97-AF65-F5344CB8AC3E}">
        <p14:creationId xmlns:p14="http://schemas.microsoft.com/office/powerpoint/2010/main" val="16686026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CBCAACF-DDAD-0C2F-70D8-3C3D6E7A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81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E9DE0B1-6AB3-1AED-F74F-E38D934A97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AE679E-D6B9-9EE3-D92B-9508C3F3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5" y="2594045"/>
            <a:ext cx="8297380" cy="1326514"/>
          </a:xfrm>
        </p:spPr>
        <p:txBody>
          <a:bodyPr/>
          <a:lstStyle/>
          <a:p>
            <a:r>
              <a:rPr lang="en-US" dirty="0"/>
              <a:t>What did you learn ? </a:t>
            </a:r>
          </a:p>
        </p:txBody>
      </p:sp>
    </p:spTree>
    <p:extLst>
      <p:ext uri="{BB962C8B-B14F-4D97-AF65-F5344CB8AC3E}">
        <p14:creationId xmlns:p14="http://schemas.microsoft.com/office/powerpoint/2010/main" val="19980652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{4A03FFAE-A029-4D5E-999A-AAA6E1BCAC02}tf16411248_win32</Template>
  <TotalTime>3311</TotalTime>
  <Words>2634</Words>
  <Application>Microsoft Office PowerPoint</Application>
  <PresentationFormat>Widescreen</PresentationFormat>
  <Paragraphs>466</Paragraphs>
  <Slides>81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Söhne</vt:lpstr>
      <vt:lpstr>Arial</vt:lpstr>
      <vt:lpstr>Avenir Next LT Pro Light</vt:lpstr>
      <vt:lpstr>Calibri</vt:lpstr>
      <vt:lpstr>Courier New</vt:lpstr>
      <vt:lpstr>Lato</vt:lpstr>
      <vt:lpstr>Posterama</vt:lpstr>
      <vt:lpstr>Custom</vt:lpstr>
      <vt:lpstr>Day One</vt:lpstr>
      <vt:lpstr>Agenda </vt:lpstr>
      <vt:lpstr>Course Intro:  Syllabus</vt:lpstr>
      <vt:lpstr>Syllabus</vt:lpstr>
      <vt:lpstr>Learning Outcome:</vt:lpstr>
      <vt:lpstr>Assignments: Grading</vt:lpstr>
      <vt:lpstr>Attendance: </vt:lpstr>
      <vt:lpstr>Big Data</vt:lpstr>
      <vt:lpstr>How large can our dataset be?</vt:lpstr>
      <vt:lpstr>How large can our data be?</vt:lpstr>
      <vt:lpstr>How large can our data be?</vt:lpstr>
      <vt:lpstr>How large can our data be?</vt:lpstr>
      <vt:lpstr>How large can our data be?</vt:lpstr>
      <vt:lpstr>How large can our data be?</vt:lpstr>
      <vt:lpstr>How to deal with big data?</vt:lpstr>
      <vt:lpstr>Parallelism</vt:lpstr>
      <vt:lpstr>Divide and Conquer</vt:lpstr>
      <vt:lpstr>PowerPoint Presentation</vt:lpstr>
      <vt:lpstr>Parallel computing</vt:lpstr>
      <vt:lpstr>PowerPoint Presentation</vt:lpstr>
      <vt:lpstr>Parallel computers</vt:lpstr>
      <vt:lpstr>Parallel systems</vt:lpstr>
      <vt:lpstr>Share architecture</vt:lpstr>
      <vt:lpstr>Data locality and isolation</vt:lpstr>
      <vt:lpstr>Framework for parallel computation</vt:lpstr>
      <vt:lpstr>Map and Reduce</vt:lpstr>
      <vt:lpstr>Evolution of Mapreduce framework</vt:lpstr>
      <vt:lpstr>MapReduce + scalability + fault tolerance</vt:lpstr>
      <vt:lpstr>PowerPoint Presentation</vt:lpstr>
      <vt:lpstr>Spark</vt:lpstr>
      <vt:lpstr>Spark</vt:lpstr>
      <vt:lpstr>Spark</vt:lpstr>
      <vt:lpstr>PowerPoint Presentation</vt:lpstr>
      <vt:lpstr>PowerPoint Presentation</vt:lpstr>
      <vt:lpstr>Differences</vt:lpstr>
      <vt:lpstr>PowerPoint Presentation</vt:lpstr>
      <vt:lpstr>Business Case</vt:lpstr>
      <vt:lpstr>Business Case</vt:lpstr>
      <vt:lpstr>PowerPoint Presentation</vt:lpstr>
      <vt:lpstr>What did you learn? </vt:lpstr>
      <vt:lpstr>Day 2 Intro to Hadoop</vt:lpstr>
      <vt:lpstr>Hadoop</vt:lpstr>
      <vt:lpstr>Hadoop</vt:lpstr>
      <vt:lpstr>Hadoop</vt:lpstr>
      <vt:lpstr>Hadoop</vt:lpstr>
      <vt:lpstr>Hadoop Cluster</vt:lpstr>
      <vt:lpstr>PowerPoint Presentation</vt:lpstr>
      <vt:lpstr>PowerPoint Presentation</vt:lpstr>
      <vt:lpstr>Building Blocks of Hadoop</vt:lpstr>
      <vt:lpstr>MapReduce</vt:lpstr>
      <vt:lpstr>PowerPoint Presentation</vt:lpstr>
      <vt:lpstr>PowerPoint Presentation</vt:lpstr>
      <vt:lpstr>PowerPoint Presentation</vt:lpstr>
      <vt:lpstr>PowerPoint Presentation</vt:lpstr>
      <vt:lpstr>MapReduce - Key Concepts</vt:lpstr>
      <vt:lpstr>Hadood Installation in Colab</vt:lpstr>
      <vt:lpstr>1. Copy data to HDFS</vt:lpstr>
      <vt:lpstr>2. Map function</vt:lpstr>
      <vt:lpstr>3. Partition and sort</vt:lpstr>
      <vt:lpstr>4. Shuffle/Aggregate /reduce</vt:lpstr>
      <vt:lpstr>5. output</vt:lpstr>
      <vt:lpstr>What did you learn ? </vt:lpstr>
      <vt:lpstr>Day 3  </vt:lpstr>
      <vt:lpstr>Limitations of Hadoop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Hadoop and Spark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 colab</vt:lpstr>
      <vt:lpstr>PowerPoint Presentation</vt:lpstr>
      <vt:lpstr>What did you learn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One</dc:title>
  <dc:creator>Dandan Karina Kowarsch</dc:creator>
  <cp:lastModifiedBy>Karina Kowarsch</cp:lastModifiedBy>
  <cp:revision>37</cp:revision>
  <dcterms:created xsi:type="dcterms:W3CDTF">2024-05-19T02:06:06Z</dcterms:created>
  <dcterms:modified xsi:type="dcterms:W3CDTF">2024-11-16T05:47:50Z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