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
      <p:font typeface="Nunito"/>
      <p:regular r:id="rId25"/>
      <p:bold r:id="rId26"/>
      <p:italic r:id="rId27"/>
      <p:boldItalic r:id="rId28"/>
    </p:embeddedFont>
    <p:embeddedFont>
      <p:font typeface="Maven Pro"/>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fntdata"/><Relationship Id="rId25" Type="http://schemas.openxmlformats.org/officeDocument/2006/relationships/font" Target="fonts/Nunito-regular.fntdata"/><Relationship Id="rId28" Type="http://schemas.openxmlformats.org/officeDocument/2006/relationships/font" Target="fonts/Nunito-boldItalic.fntdata"/><Relationship Id="rId27"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venPro-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avenPr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c843d5d5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c843d5d5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c8a70a6efb_1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c8a70a6efb_1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c843d5d5d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c843d5d5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c908a4ec2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c908a4ec2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team made sure to select features based on relevancy to our target of predicting delays given that we must work within the 2 hour </a:t>
            </a:r>
            <a:r>
              <a:rPr lang="en"/>
              <a:t>window</a:t>
            </a:r>
            <a:r>
              <a:rPr lang="en"/>
              <a:t>. Because of this, we focused on recency and whether we belieevd the data would have a direct impact on flight delays. For the weather data we stuck to hourly information, focusing on temperature, precipitation, wind, and visibility. For airplane features we focused on categorical features such as airplane, airline, and </a:t>
            </a:r>
            <a:r>
              <a:rPr lang="en"/>
              <a:t>airport</a:t>
            </a:r>
            <a:r>
              <a:rPr lang="en"/>
              <a:t>, along with scheduled departure time.</a:t>
            </a:r>
            <a:endParaRPr/>
          </a:p>
          <a:p>
            <a:pPr indent="0" lvl="0" marL="0" rtl="0" algn="l">
              <a:spcBef>
                <a:spcPts val="0"/>
              </a:spcBef>
              <a:spcAft>
                <a:spcPts val="0"/>
              </a:spcAft>
              <a:buNone/>
            </a:pPr>
            <a:r>
              <a:rPr lang="en"/>
              <a:t>After that we derived additional features to get more from the dataset, such as looking at the time since the previous flight, and if it was delayed at departure time. In addition we derived </a:t>
            </a:r>
            <a:r>
              <a:rPr lang="en"/>
              <a:t>summary</a:t>
            </a:r>
            <a:r>
              <a:rPr lang="en"/>
              <a:t> feature such as number of adverse weather conditions, and number of scheduled flights at time of departure in the given airport to represent congestion.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c8a70a6efb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c8a70a6efb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rgbClr val="C0791B"/>
                </a:solidFill>
                <a:highlight>
                  <a:schemeClr val="lt1"/>
                </a:highlight>
                <a:latin typeface="Roboto"/>
                <a:ea typeface="Roboto"/>
                <a:cs typeface="Roboto"/>
                <a:sym typeface="Roboto"/>
              </a:rPr>
              <a:t>One of our first summary visuals was the creation of histograms to show the distribution of our features, and inform us regarding the proportion of binary variables in an visualization. </a:t>
            </a:r>
            <a:r>
              <a:rPr lang="en" sz="1200">
                <a:solidFill>
                  <a:srgbClr val="C0791B"/>
                </a:solidFill>
                <a:highlight>
                  <a:schemeClr val="lt1"/>
                </a:highlight>
                <a:latin typeface="Roboto"/>
                <a:ea typeface="Roboto"/>
                <a:cs typeface="Roboto"/>
                <a:sym typeface="Roboto"/>
              </a:rPr>
              <a:t>Unsurprisingly</a:t>
            </a:r>
            <a:r>
              <a:rPr lang="en" sz="1200">
                <a:solidFill>
                  <a:srgbClr val="C0791B"/>
                </a:solidFill>
                <a:highlight>
                  <a:schemeClr val="lt1"/>
                </a:highlight>
                <a:latin typeface="Roboto"/>
                <a:ea typeface="Roboto"/>
                <a:cs typeface="Roboto"/>
                <a:sym typeface="Roboto"/>
              </a:rPr>
              <a:t> many variables are not normally distributed by typically heavily skewed.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c8a70a6efb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c8a70a6efb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t>
            </a:r>
            <a:r>
              <a:rPr lang="en"/>
              <a:t>derived</a:t>
            </a:r>
            <a:r>
              <a:rPr lang="en"/>
              <a:t> features were </a:t>
            </a:r>
            <a:r>
              <a:rPr lang="en"/>
              <a:t>especially</a:t>
            </a:r>
            <a:r>
              <a:rPr lang="en"/>
              <a:t> skewed, possibly in part due to the </a:t>
            </a:r>
            <a:r>
              <a:rPr lang="en"/>
              <a:t>relatively</a:t>
            </a:r>
            <a:r>
              <a:rPr lang="en"/>
              <a:t> small size of the 3 month dataset. Understanding the number of cancelled flights was also critical to data cleaning later.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c8a70a6efb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c8a70a6efb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created boxplots to further look at the distributions, as well as medians and quartiles. We split them into 3 categories based on their scale. Once again we see the skew of some of our variables.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c8a70a6efb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c8a70a6efb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a correlation matrix gave us a better indication of which features to keep, and confirm that we are not including too many </a:t>
            </a:r>
            <a:r>
              <a:rPr lang="en"/>
              <a:t>extraneous</a:t>
            </a:r>
            <a:r>
              <a:rPr lang="en"/>
              <a:t> features.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c8a70a6efb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c8a70a6efb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Ricky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c8a70a6efb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c8a70a6efb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Ricky</a:t>
            </a:r>
            <a:endParaRPr/>
          </a:p>
          <a:p>
            <a:pPr indent="0" lvl="0" marL="0" rtl="0" algn="l">
              <a:spcBef>
                <a:spcPts val="0"/>
              </a:spcBef>
              <a:spcAft>
                <a:spcPts val="0"/>
              </a:spcAft>
              <a:buNone/>
            </a:pPr>
            <a:r>
              <a:rPr lang="en"/>
              <a:t>7 Categorical Features</a:t>
            </a:r>
            <a:endParaRPr/>
          </a:p>
          <a:p>
            <a:pPr indent="0" lvl="0" marL="0" rtl="0" algn="l">
              <a:spcBef>
                <a:spcPts val="0"/>
              </a:spcBef>
              <a:spcAft>
                <a:spcPts val="0"/>
              </a:spcAft>
              <a:buNone/>
            </a:pPr>
            <a:r>
              <a:rPr lang="en"/>
              <a:t>13 Continuous Features</a:t>
            </a:r>
            <a:endParaRPr/>
          </a:p>
          <a:p>
            <a:pPr indent="0" lvl="0" marL="0" rtl="0" algn="l">
              <a:spcBef>
                <a:spcPts val="0"/>
              </a:spcBef>
              <a:spcAft>
                <a:spcPts val="0"/>
              </a:spcAft>
              <a:buNone/>
            </a:pPr>
            <a:r>
              <a:rPr lang="en"/>
              <a:t>20 Total Features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c908a4ec2f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c908a4ec2f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c843d5d5d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c843d5d5d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c843d5d5d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c843d5d5d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ccb6e311e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ccb6e311e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25"/>
            <a:ext cx="63033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Forecasting Flight Delays</a:t>
            </a:r>
            <a:r>
              <a:rPr lang="en"/>
              <a:t>: A Data-Driven Approach Using Weather and Flight Data</a:t>
            </a:r>
            <a:endParaRPr/>
          </a:p>
          <a:p>
            <a:pPr indent="0" lvl="0" marL="0" rtl="0" algn="l">
              <a:spcBef>
                <a:spcPts val="0"/>
              </a:spcBef>
              <a:spcAft>
                <a:spcPts val="0"/>
              </a:spcAft>
              <a:buNone/>
            </a:pPr>
            <a:r>
              <a:t/>
            </a:r>
            <a:endParaRPr/>
          </a:p>
        </p:txBody>
      </p:sp>
      <p:sp>
        <p:nvSpPr>
          <p:cNvPr id="278" name="Google Shape;278;p13"/>
          <p:cNvSpPr txBox="1"/>
          <p:nvPr/>
        </p:nvSpPr>
        <p:spPr>
          <a:xfrm>
            <a:off x="2605950" y="3486725"/>
            <a:ext cx="6303300" cy="18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Team_5-4: Jane Su, Daelyn Bergsman, Ahmad Allaou, Ricky Salinas</a:t>
            </a:r>
            <a:endParaRPr sz="1600">
              <a:solidFill>
                <a:schemeClr val="lt1"/>
              </a:solidFill>
            </a:endParaRPr>
          </a:p>
        </p:txBody>
      </p:sp>
      <p:pic>
        <p:nvPicPr>
          <p:cNvPr id="279" name="Google Shape;279;p13"/>
          <p:cNvPicPr preferRelativeResize="0"/>
          <p:nvPr/>
        </p:nvPicPr>
        <p:blipFill>
          <a:blip r:embed="rId3">
            <a:alphaModFix/>
          </a:blip>
          <a:stretch>
            <a:fillRect/>
          </a:stretch>
        </p:blipFill>
        <p:spPr>
          <a:xfrm>
            <a:off x="824000" y="3065275"/>
            <a:ext cx="1711900" cy="1711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a:t>
            </a:r>
            <a:endParaRPr/>
          </a:p>
        </p:txBody>
      </p:sp>
      <p:pic>
        <p:nvPicPr>
          <p:cNvPr id="285" name="Google Shape;285;p14"/>
          <p:cNvPicPr preferRelativeResize="0"/>
          <p:nvPr/>
        </p:nvPicPr>
        <p:blipFill rotWithShape="1">
          <a:blip r:embed="rId3">
            <a:alphaModFix/>
          </a:blip>
          <a:srcRect b="12907" l="0" r="0" t="0"/>
          <a:stretch/>
        </p:blipFill>
        <p:spPr>
          <a:xfrm>
            <a:off x="2638675" y="1622338"/>
            <a:ext cx="1510200" cy="1483425"/>
          </a:xfrm>
          <a:prstGeom prst="rect">
            <a:avLst/>
          </a:prstGeom>
          <a:noFill/>
          <a:ln>
            <a:noFill/>
          </a:ln>
        </p:spPr>
      </p:pic>
      <p:pic>
        <p:nvPicPr>
          <p:cNvPr id="286" name="Google Shape;286;p14"/>
          <p:cNvPicPr preferRelativeResize="0"/>
          <p:nvPr/>
        </p:nvPicPr>
        <p:blipFill>
          <a:blip r:embed="rId4">
            <a:alphaModFix/>
          </a:blip>
          <a:stretch>
            <a:fillRect/>
          </a:stretch>
        </p:blipFill>
        <p:spPr>
          <a:xfrm>
            <a:off x="6678125" y="1609688"/>
            <a:ext cx="1508760" cy="1508761"/>
          </a:xfrm>
          <a:prstGeom prst="rect">
            <a:avLst/>
          </a:prstGeom>
          <a:noFill/>
          <a:ln>
            <a:noFill/>
          </a:ln>
        </p:spPr>
      </p:pic>
      <p:pic>
        <p:nvPicPr>
          <p:cNvPr id="287" name="Google Shape;287;p14"/>
          <p:cNvPicPr preferRelativeResize="0"/>
          <p:nvPr/>
        </p:nvPicPr>
        <p:blipFill>
          <a:blip r:embed="rId5">
            <a:alphaModFix/>
          </a:blip>
          <a:stretch>
            <a:fillRect/>
          </a:stretch>
        </p:blipFill>
        <p:spPr>
          <a:xfrm>
            <a:off x="572200" y="1646825"/>
            <a:ext cx="1508750" cy="1458950"/>
          </a:xfrm>
          <a:prstGeom prst="rect">
            <a:avLst/>
          </a:prstGeom>
          <a:noFill/>
          <a:ln>
            <a:noFill/>
          </a:ln>
        </p:spPr>
      </p:pic>
      <p:sp>
        <p:nvSpPr>
          <p:cNvPr id="288" name="Google Shape;288;p14"/>
          <p:cNvSpPr txBox="1"/>
          <p:nvPr/>
        </p:nvSpPr>
        <p:spPr>
          <a:xfrm>
            <a:off x="450625" y="3576525"/>
            <a:ext cx="1434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289" name="Google Shape;289;p14"/>
          <p:cNvSpPr txBox="1"/>
          <p:nvPr/>
        </p:nvSpPr>
        <p:spPr>
          <a:xfrm>
            <a:off x="890900" y="3344450"/>
            <a:ext cx="797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Ricky</a:t>
            </a:r>
            <a:endParaRPr sz="1300">
              <a:solidFill>
                <a:schemeClr val="dk2"/>
              </a:solidFill>
              <a:latin typeface="Nunito"/>
              <a:ea typeface="Nunito"/>
              <a:cs typeface="Nunito"/>
              <a:sym typeface="Nunito"/>
            </a:endParaRPr>
          </a:p>
        </p:txBody>
      </p:sp>
      <p:sp>
        <p:nvSpPr>
          <p:cNvPr id="290" name="Google Shape;290;p14"/>
          <p:cNvSpPr txBox="1"/>
          <p:nvPr/>
        </p:nvSpPr>
        <p:spPr>
          <a:xfrm>
            <a:off x="2995225" y="3344450"/>
            <a:ext cx="797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Daelyn</a:t>
            </a:r>
            <a:endParaRPr sz="1300">
              <a:solidFill>
                <a:schemeClr val="dk2"/>
              </a:solidFill>
              <a:latin typeface="Nunito"/>
              <a:ea typeface="Nunito"/>
              <a:cs typeface="Nunito"/>
              <a:sym typeface="Nunito"/>
            </a:endParaRPr>
          </a:p>
        </p:txBody>
      </p:sp>
      <p:sp>
        <p:nvSpPr>
          <p:cNvPr id="291" name="Google Shape;291;p14"/>
          <p:cNvSpPr txBox="1"/>
          <p:nvPr/>
        </p:nvSpPr>
        <p:spPr>
          <a:xfrm>
            <a:off x="7138563" y="3344450"/>
            <a:ext cx="797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Jane</a:t>
            </a:r>
            <a:endParaRPr sz="1300">
              <a:solidFill>
                <a:schemeClr val="dk2"/>
              </a:solidFill>
              <a:latin typeface="Nunito"/>
              <a:ea typeface="Nunito"/>
              <a:cs typeface="Nunito"/>
              <a:sym typeface="Nunito"/>
            </a:endParaRPr>
          </a:p>
        </p:txBody>
      </p:sp>
      <p:sp>
        <p:nvSpPr>
          <p:cNvPr id="292" name="Google Shape;292;p14"/>
          <p:cNvSpPr txBox="1"/>
          <p:nvPr/>
        </p:nvSpPr>
        <p:spPr>
          <a:xfrm>
            <a:off x="5066900" y="3344450"/>
            <a:ext cx="797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Ahmad</a:t>
            </a:r>
            <a:endParaRPr sz="1300">
              <a:solidFill>
                <a:schemeClr val="dk2"/>
              </a:solidFill>
              <a:latin typeface="Nunito"/>
              <a:ea typeface="Nunito"/>
              <a:cs typeface="Nunito"/>
              <a:sym typeface="Nunito"/>
            </a:endParaRPr>
          </a:p>
        </p:txBody>
      </p:sp>
      <p:pic>
        <p:nvPicPr>
          <p:cNvPr id="293" name="Google Shape;293;p14"/>
          <p:cNvPicPr preferRelativeResize="0"/>
          <p:nvPr/>
        </p:nvPicPr>
        <p:blipFill>
          <a:blip r:embed="rId6">
            <a:alphaModFix/>
          </a:blip>
          <a:stretch>
            <a:fillRect/>
          </a:stretch>
        </p:blipFill>
        <p:spPr>
          <a:xfrm>
            <a:off x="4710350" y="1608976"/>
            <a:ext cx="1510200" cy="15101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Outline</a:t>
            </a:r>
            <a:endParaRPr/>
          </a:p>
        </p:txBody>
      </p:sp>
      <p:sp>
        <p:nvSpPr>
          <p:cNvPr id="299" name="Google Shape;299;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Project Description</a:t>
            </a:r>
            <a:endParaRPr sz="1600"/>
          </a:p>
          <a:p>
            <a:pPr indent="-330200" lvl="0" marL="457200" rtl="0" algn="l">
              <a:spcBef>
                <a:spcPts val="0"/>
              </a:spcBef>
              <a:spcAft>
                <a:spcPts val="0"/>
              </a:spcAft>
              <a:buSzPts val="1600"/>
              <a:buChar char="-"/>
            </a:pPr>
            <a:r>
              <a:rPr lang="en" sz="1600"/>
              <a:t>Feature Selection and Creation</a:t>
            </a:r>
            <a:endParaRPr sz="1600"/>
          </a:p>
          <a:p>
            <a:pPr indent="-330200" lvl="0" marL="457200" rtl="0" algn="l">
              <a:spcBef>
                <a:spcPts val="0"/>
              </a:spcBef>
              <a:spcAft>
                <a:spcPts val="0"/>
              </a:spcAft>
              <a:buSzPts val="1600"/>
              <a:buChar char="-"/>
            </a:pPr>
            <a:r>
              <a:rPr lang="en" sz="1600"/>
              <a:t>Summary Visual EDA</a:t>
            </a:r>
            <a:endParaRPr sz="1600"/>
          </a:p>
          <a:p>
            <a:pPr indent="-330200" lvl="0" marL="457200" rtl="0" algn="l">
              <a:spcBef>
                <a:spcPts val="0"/>
              </a:spcBef>
              <a:spcAft>
                <a:spcPts val="0"/>
              </a:spcAft>
              <a:buSzPts val="1600"/>
              <a:buChar char="-"/>
            </a:pPr>
            <a:r>
              <a:rPr lang="en" sz="1600"/>
              <a:t>Handling Missing Data</a:t>
            </a:r>
            <a:endParaRPr sz="1600"/>
          </a:p>
          <a:p>
            <a:pPr indent="-330200" lvl="0" marL="457200" rtl="0" algn="l">
              <a:spcBef>
                <a:spcPts val="0"/>
              </a:spcBef>
              <a:spcAft>
                <a:spcPts val="0"/>
              </a:spcAft>
              <a:buSzPts val="1600"/>
              <a:buChar char="-"/>
            </a:pPr>
            <a:r>
              <a:rPr lang="en" sz="1600"/>
              <a:t>Modeling Pipelines</a:t>
            </a:r>
            <a:endParaRPr sz="1600"/>
          </a:p>
          <a:p>
            <a:pPr indent="-330200" lvl="0" marL="457200" rtl="0" algn="l">
              <a:spcBef>
                <a:spcPts val="0"/>
              </a:spcBef>
              <a:spcAft>
                <a:spcPts val="0"/>
              </a:spcAft>
              <a:buSzPts val="1600"/>
              <a:buChar char="-"/>
            </a:pPr>
            <a:r>
              <a:rPr lang="en" sz="1600"/>
              <a:t>Results</a:t>
            </a:r>
            <a:endParaRPr sz="1600"/>
          </a:p>
          <a:p>
            <a:pPr indent="-330200" lvl="0" marL="457200" rtl="0" algn="l">
              <a:spcBef>
                <a:spcPts val="0"/>
              </a:spcBef>
              <a:spcAft>
                <a:spcPts val="0"/>
              </a:spcAft>
              <a:buSzPts val="1600"/>
              <a:buChar char="-"/>
            </a:pPr>
            <a:r>
              <a:rPr lang="en" sz="1600"/>
              <a:t>Conclusion</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Description</a:t>
            </a:r>
            <a:endParaRPr/>
          </a:p>
        </p:txBody>
      </p:sp>
      <p:sp>
        <p:nvSpPr>
          <p:cNvPr id="305" name="Google Shape;305;p16"/>
          <p:cNvSpPr txBox="1"/>
          <p:nvPr>
            <p:ph idx="1" type="body"/>
          </p:nvPr>
        </p:nvSpPr>
        <p:spPr>
          <a:xfrm>
            <a:off x="311700" y="1206375"/>
            <a:ext cx="8520600" cy="3672600"/>
          </a:xfrm>
          <a:prstGeom prst="rect">
            <a:avLst/>
          </a:prstGeom>
        </p:spPr>
        <p:txBody>
          <a:bodyPr anchorCtr="0" anchor="t" bIns="91425" lIns="91425" spcFirstLastPara="1" rIns="91425" wrap="square" tIns="91425">
            <a:normAutofit/>
          </a:bodyPr>
          <a:lstStyle/>
          <a:p>
            <a:pPr indent="0" lvl="0" marL="0" rtl="0" algn="l">
              <a:lnSpc>
                <a:spcPct val="160000"/>
              </a:lnSpc>
              <a:spcBef>
                <a:spcPts val="1200"/>
              </a:spcBef>
              <a:spcAft>
                <a:spcPts val="0"/>
              </a:spcAft>
              <a:buClr>
                <a:schemeClr val="dk1"/>
              </a:buClr>
              <a:buSzPts val="1100"/>
              <a:buFont typeface="Arial"/>
              <a:buNone/>
            </a:pPr>
            <a:r>
              <a:rPr lang="en" sz="1400">
                <a:solidFill>
                  <a:schemeClr val="dk1"/>
                </a:solidFill>
                <a:latin typeface="Roboto"/>
                <a:ea typeface="Roboto"/>
                <a:cs typeface="Roboto"/>
                <a:sym typeface="Roboto"/>
              </a:rPr>
              <a:t>Data Description</a:t>
            </a:r>
            <a:endParaRPr sz="1400">
              <a:solidFill>
                <a:schemeClr val="dk1"/>
              </a:solidFill>
              <a:latin typeface="Roboto"/>
              <a:ea typeface="Roboto"/>
              <a:cs typeface="Roboto"/>
              <a:sym typeface="Roboto"/>
            </a:endParaRPr>
          </a:p>
          <a:p>
            <a:pPr indent="0" lvl="0" marL="457200" rtl="0" algn="l">
              <a:lnSpc>
                <a:spcPct val="160000"/>
              </a:lnSpc>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The dataset comprises three main components:</a:t>
            </a:r>
            <a:endParaRPr sz="1200">
              <a:solidFill>
                <a:schemeClr val="dk1"/>
              </a:solidFill>
              <a:latin typeface="Roboto"/>
              <a:ea typeface="Roboto"/>
              <a:cs typeface="Roboto"/>
              <a:sym typeface="Roboto"/>
            </a:endParaRPr>
          </a:p>
          <a:p>
            <a:pPr indent="-304800" lvl="0" marL="9144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Flight Data: This includes details about each flight, such as departure and arrival times, flight numbers, carrier information, origin, and destination airports.</a:t>
            </a:r>
            <a:endParaRPr sz="1200">
              <a:solidFill>
                <a:schemeClr val="dk1"/>
              </a:solidFill>
              <a:latin typeface="Roboto"/>
              <a:ea typeface="Roboto"/>
              <a:cs typeface="Roboto"/>
              <a:sym typeface="Roboto"/>
            </a:endParaRPr>
          </a:p>
          <a:p>
            <a:pPr indent="-304800" lvl="0" marL="9144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Weather Data: Hourly weather information corresponding to the flight's origin airport, including temperature, wind speed, precipitation, visibility, and other relevant weather metrics.</a:t>
            </a:r>
            <a:endParaRPr sz="1200">
              <a:solidFill>
                <a:schemeClr val="dk1"/>
              </a:solidFill>
              <a:latin typeface="Roboto"/>
              <a:ea typeface="Roboto"/>
              <a:cs typeface="Roboto"/>
              <a:sym typeface="Roboto"/>
            </a:endParaRPr>
          </a:p>
          <a:p>
            <a:pPr indent="-304800" lvl="0" marL="9144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Station Data: Information about weather stations, which helps associate weather data with corresponding flights based on geographic proximity.</a:t>
            </a:r>
            <a:endParaRPr sz="1200">
              <a:solidFill>
                <a:schemeClr val="dk1"/>
              </a:solidFill>
              <a:latin typeface="Roboto"/>
              <a:ea typeface="Roboto"/>
              <a:cs typeface="Roboto"/>
              <a:sym typeface="Roboto"/>
            </a:endParaRPr>
          </a:p>
          <a:p>
            <a:pPr indent="0" lvl="0" marL="0" rtl="0" algn="l">
              <a:lnSpc>
                <a:spcPct val="160000"/>
              </a:lnSpc>
              <a:spcBef>
                <a:spcPts val="1200"/>
              </a:spcBef>
              <a:spcAft>
                <a:spcPts val="0"/>
              </a:spcAft>
              <a:buClr>
                <a:schemeClr val="dk1"/>
              </a:buClr>
              <a:buSzPts val="1100"/>
              <a:buFont typeface="Arial"/>
              <a:buNone/>
            </a:pPr>
            <a:r>
              <a:rPr lang="en" sz="1400">
                <a:solidFill>
                  <a:schemeClr val="dk1"/>
                </a:solidFill>
                <a:latin typeface="Roboto"/>
                <a:ea typeface="Roboto"/>
                <a:cs typeface="Roboto"/>
                <a:sym typeface="Roboto"/>
              </a:rPr>
              <a:t>Task to be Tackled:</a:t>
            </a:r>
            <a:endParaRPr sz="1400">
              <a:solidFill>
                <a:schemeClr val="dk1"/>
              </a:solidFill>
              <a:latin typeface="Roboto"/>
              <a:ea typeface="Roboto"/>
              <a:cs typeface="Roboto"/>
              <a:sym typeface="Roboto"/>
            </a:endParaRPr>
          </a:p>
          <a:p>
            <a:pPr indent="-304800" lvl="0" marL="9144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primary task is to develop a predictive model that can accurately forecast whether a flight will be delayed by more than 15 minutes, based on the available flight and weather data. This involves preprocessing the data, engineering relevant features, selecting appropriate machine learning algorithms, and evaluating the model's performance.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 Selection and Creation</a:t>
            </a:r>
            <a:endParaRPr/>
          </a:p>
        </p:txBody>
      </p:sp>
      <p:sp>
        <p:nvSpPr>
          <p:cNvPr id="311" name="Google Shape;311;p17"/>
          <p:cNvSpPr txBox="1"/>
          <p:nvPr>
            <p:ph idx="1" type="body"/>
          </p:nvPr>
        </p:nvSpPr>
        <p:spPr>
          <a:xfrm>
            <a:off x="1303800" y="1350325"/>
            <a:ext cx="7030500" cy="25416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Features were chosen </a:t>
            </a:r>
            <a:r>
              <a:rPr lang="en" sz="1200">
                <a:solidFill>
                  <a:schemeClr val="dk1"/>
                </a:solidFill>
                <a:latin typeface="Roboto"/>
                <a:ea typeface="Roboto"/>
                <a:cs typeface="Roboto"/>
                <a:sym typeface="Roboto"/>
              </a:rPr>
              <a:t>based</a:t>
            </a:r>
            <a:r>
              <a:rPr lang="en" sz="1200">
                <a:solidFill>
                  <a:schemeClr val="dk1"/>
                </a:solidFill>
                <a:latin typeface="Roboto"/>
                <a:ea typeface="Roboto"/>
                <a:cs typeface="Roboto"/>
                <a:sym typeface="Roboto"/>
              </a:rPr>
              <a:t> off of recency to the flight, and </a:t>
            </a:r>
            <a:r>
              <a:rPr lang="en" sz="1200">
                <a:solidFill>
                  <a:schemeClr val="dk1"/>
                </a:solidFill>
                <a:latin typeface="Roboto"/>
                <a:ea typeface="Roboto"/>
                <a:cs typeface="Roboto"/>
                <a:sym typeface="Roboto"/>
              </a:rPr>
              <a:t>relevance</a:t>
            </a:r>
            <a:r>
              <a:rPr lang="en" sz="1200">
                <a:solidFill>
                  <a:schemeClr val="dk1"/>
                </a:solidFill>
                <a:latin typeface="Roboto"/>
                <a:ea typeface="Roboto"/>
                <a:cs typeface="Roboto"/>
                <a:sym typeface="Roboto"/>
              </a:rPr>
              <a:t> in modern aviation.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Weather based features were restricted to hourly features, and most flight features regarding airline, airport, and airplane details were used as categorical features.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Several features were </a:t>
            </a:r>
            <a:r>
              <a:rPr lang="en" sz="1200">
                <a:solidFill>
                  <a:schemeClr val="dk1"/>
                </a:solidFill>
                <a:latin typeface="Roboto"/>
                <a:ea typeface="Roboto"/>
                <a:cs typeface="Roboto"/>
                <a:sym typeface="Roboto"/>
              </a:rPr>
              <a:t>derived</a:t>
            </a:r>
            <a:r>
              <a:rPr lang="en" sz="1200">
                <a:solidFill>
                  <a:schemeClr val="dk1"/>
                </a:solidFill>
                <a:latin typeface="Roboto"/>
                <a:ea typeface="Roboto"/>
                <a:cs typeface="Roboto"/>
                <a:sym typeface="Roboto"/>
              </a:rPr>
              <a:t> to give more information not present in the raw data. These include features based </a:t>
            </a:r>
            <a:r>
              <a:rPr lang="en" sz="1200">
                <a:solidFill>
                  <a:schemeClr val="dk1"/>
                </a:solidFill>
                <a:latin typeface="Roboto"/>
                <a:ea typeface="Roboto"/>
                <a:cs typeface="Roboto"/>
                <a:sym typeface="Roboto"/>
              </a:rPr>
              <a:t>off</a:t>
            </a:r>
            <a:r>
              <a:rPr lang="en" sz="1200">
                <a:solidFill>
                  <a:schemeClr val="dk1"/>
                </a:solidFill>
                <a:latin typeface="Roboto"/>
                <a:ea typeface="Roboto"/>
                <a:cs typeface="Roboto"/>
                <a:sym typeface="Roboto"/>
              </a:rPr>
              <a:t> of previous flights, </a:t>
            </a:r>
            <a:r>
              <a:rPr lang="en" sz="1200">
                <a:solidFill>
                  <a:schemeClr val="dk1"/>
                </a:solidFill>
                <a:latin typeface="Roboto"/>
                <a:ea typeface="Roboto"/>
                <a:cs typeface="Roboto"/>
                <a:sym typeface="Roboto"/>
              </a:rPr>
              <a:t>airport</a:t>
            </a:r>
            <a:r>
              <a:rPr lang="en" sz="1200">
                <a:solidFill>
                  <a:schemeClr val="dk1"/>
                </a:solidFill>
                <a:latin typeface="Roboto"/>
                <a:ea typeface="Roboto"/>
                <a:cs typeface="Roboto"/>
                <a:sym typeface="Roboto"/>
              </a:rPr>
              <a:t> conditions, and summary weather conditions. </a:t>
            </a:r>
            <a:endParaRPr sz="1100"/>
          </a:p>
        </p:txBody>
      </p:sp>
      <p:pic>
        <p:nvPicPr>
          <p:cNvPr id="312" name="Google Shape;312;p17"/>
          <p:cNvPicPr preferRelativeResize="0"/>
          <p:nvPr/>
        </p:nvPicPr>
        <p:blipFill>
          <a:blip r:embed="rId3">
            <a:alphaModFix/>
          </a:blip>
          <a:stretch>
            <a:fillRect/>
          </a:stretch>
        </p:blipFill>
        <p:spPr>
          <a:xfrm>
            <a:off x="1149112" y="3260898"/>
            <a:ext cx="6845776" cy="1775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8"/>
          <p:cNvSpPr txBox="1"/>
          <p:nvPr>
            <p:ph type="title"/>
          </p:nvPr>
        </p:nvSpPr>
        <p:spPr>
          <a:xfrm>
            <a:off x="311700" y="195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 - Feature Distribution</a:t>
            </a:r>
            <a:endParaRPr/>
          </a:p>
        </p:txBody>
      </p:sp>
      <p:pic>
        <p:nvPicPr>
          <p:cNvPr id="318" name="Google Shape;318;p18"/>
          <p:cNvPicPr preferRelativeResize="0"/>
          <p:nvPr/>
        </p:nvPicPr>
        <p:blipFill>
          <a:blip r:embed="rId3">
            <a:alphaModFix/>
          </a:blip>
          <a:stretch>
            <a:fillRect/>
          </a:stretch>
        </p:blipFill>
        <p:spPr>
          <a:xfrm>
            <a:off x="1378823" y="1030250"/>
            <a:ext cx="6386376" cy="369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ph type="title"/>
          </p:nvPr>
        </p:nvSpPr>
        <p:spPr>
          <a:xfrm>
            <a:off x="311700" y="195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 - Feature Distribution</a:t>
            </a:r>
            <a:endParaRPr/>
          </a:p>
        </p:txBody>
      </p:sp>
      <p:pic>
        <p:nvPicPr>
          <p:cNvPr id="324" name="Google Shape;324;p19"/>
          <p:cNvPicPr preferRelativeResize="0"/>
          <p:nvPr/>
        </p:nvPicPr>
        <p:blipFill>
          <a:blip r:embed="rId3">
            <a:alphaModFix/>
          </a:blip>
          <a:stretch>
            <a:fillRect/>
          </a:stretch>
        </p:blipFill>
        <p:spPr>
          <a:xfrm>
            <a:off x="152400" y="920175"/>
            <a:ext cx="8839204" cy="34182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20"/>
          <p:cNvPicPr preferRelativeResize="0"/>
          <p:nvPr/>
        </p:nvPicPr>
        <p:blipFill>
          <a:blip r:embed="rId3">
            <a:alphaModFix/>
          </a:blip>
          <a:stretch>
            <a:fillRect/>
          </a:stretch>
        </p:blipFill>
        <p:spPr>
          <a:xfrm>
            <a:off x="386675" y="74800"/>
            <a:ext cx="4185327" cy="2435301"/>
          </a:xfrm>
          <a:prstGeom prst="rect">
            <a:avLst/>
          </a:prstGeom>
          <a:noFill/>
          <a:ln>
            <a:noFill/>
          </a:ln>
        </p:spPr>
      </p:pic>
      <p:pic>
        <p:nvPicPr>
          <p:cNvPr id="330" name="Google Shape;330;p20"/>
          <p:cNvPicPr preferRelativeResize="0"/>
          <p:nvPr/>
        </p:nvPicPr>
        <p:blipFill>
          <a:blip r:embed="rId4">
            <a:alphaModFix/>
          </a:blip>
          <a:stretch>
            <a:fillRect/>
          </a:stretch>
        </p:blipFill>
        <p:spPr>
          <a:xfrm>
            <a:off x="4500700" y="893775"/>
            <a:ext cx="4546801" cy="2481675"/>
          </a:xfrm>
          <a:prstGeom prst="rect">
            <a:avLst/>
          </a:prstGeom>
          <a:noFill/>
          <a:ln>
            <a:noFill/>
          </a:ln>
        </p:spPr>
      </p:pic>
      <p:pic>
        <p:nvPicPr>
          <p:cNvPr id="331" name="Google Shape;331;p20"/>
          <p:cNvPicPr preferRelativeResize="0"/>
          <p:nvPr/>
        </p:nvPicPr>
        <p:blipFill>
          <a:blip r:embed="rId5">
            <a:alphaModFix/>
          </a:blip>
          <a:stretch>
            <a:fillRect/>
          </a:stretch>
        </p:blipFill>
        <p:spPr>
          <a:xfrm>
            <a:off x="315375" y="2571750"/>
            <a:ext cx="4185325" cy="24684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21"/>
          <p:cNvPicPr preferRelativeResize="0"/>
          <p:nvPr/>
        </p:nvPicPr>
        <p:blipFill>
          <a:blip r:embed="rId3">
            <a:alphaModFix/>
          </a:blip>
          <a:stretch>
            <a:fillRect/>
          </a:stretch>
        </p:blipFill>
        <p:spPr>
          <a:xfrm>
            <a:off x="1853325" y="152400"/>
            <a:ext cx="5259846" cy="4838700"/>
          </a:xfrm>
          <a:prstGeom prst="rect">
            <a:avLst/>
          </a:prstGeom>
          <a:noFill/>
          <a:ln>
            <a:noFill/>
          </a:ln>
        </p:spPr>
      </p:pic>
      <p:sp>
        <p:nvSpPr>
          <p:cNvPr id="337" name="Google Shape;337;p21"/>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Missing Data Handling</a:t>
            </a:r>
            <a:endParaRPr/>
          </a:p>
        </p:txBody>
      </p:sp>
      <p:sp>
        <p:nvSpPr>
          <p:cNvPr id="343" name="Google Shape;343;p22"/>
          <p:cNvSpPr txBox="1"/>
          <p:nvPr>
            <p:ph idx="1" type="body"/>
          </p:nvPr>
        </p:nvSpPr>
        <p:spPr>
          <a:xfrm>
            <a:off x="1303800" y="1300175"/>
            <a:ext cx="7030500" cy="3672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solidFill>
                  <a:schemeClr val="dk1"/>
                </a:solidFill>
                <a:highlight>
                  <a:srgbClr val="FFFFFF"/>
                </a:highlight>
                <a:latin typeface="Roboto"/>
                <a:ea typeface="Roboto"/>
                <a:cs typeface="Roboto"/>
                <a:sym typeface="Roboto"/>
              </a:rPr>
              <a:t>Null values have been handled primarily with absent values in weather data, which can occur due to a lack of equipment at specific weather stations to fully capture all reading measurements.</a:t>
            </a:r>
            <a:endParaRPr sz="1200">
              <a:solidFill>
                <a:schemeClr val="dk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t/>
            </a:r>
            <a:endParaRPr sz="1200">
              <a:solidFill>
                <a:schemeClr val="dk1"/>
              </a:solidFill>
              <a:highlight>
                <a:srgbClr val="FFFFFF"/>
              </a:highlight>
              <a:latin typeface="Roboto"/>
              <a:ea typeface="Roboto"/>
              <a:cs typeface="Roboto"/>
              <a:sym typeface="Roboto"/>
            </a:endParaRPr>
          </a:p>
          <a:p>
            <a:pPr indent="-304800" lvl="0" marL="457200" rtl="0" algn="l">
              <a:lnSpc>
                <a:spcPct val="100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T</a:t>
            </a:r>
            <a:r>
              <a:rPr lang="en" sz="1200">
                <a:solidFill>
                  <a:schemeClr val="dk1"/>
                </a:solidFill>
                <a:highlight>
                  <a:srgbClr val="FFFFFF"/>
                </a:highlight>
                <a:latin typeface="Roboto"/>
                <a:ea typeface="Roboto"/>
                <a:cs typeface="Roboto"/>
                <a:sym typeface="Roboto"/>
              </a:rPr>
              <a:t>emperature and </a:t>
            </a:r>
            <a:r>
              <a:rPr lang="en" sz="1200">
                <a:solidFill>
                  <a:schemeClr val="dk1"/>
                </a:solidFill>
                <a:highlight>
                  <a:srgbClr val="FFFFFF"/>
                </a:highlight>
                <a:latin typeface="Roboto"/>
                <a:ea typeface="Roboto"/>
                <a:cs typeface="Roboto"/>
                <a:sym typeface="Roboto"/>
              </a:rPr>
              <a:t>wind speed missing values replaced by </a:t>
            </a:r>
            <a:r>
              <a:rPr lang="en" sz="1200">
                <a:solidFill>
                  <a:schemeClr val="dk1"/>
                </a:solidFill>
                <a:highlight>
                  <a:srgbClr val="FFFFFF"/>
                </a:highlight>
                <a:latin typeface="Roboto"/>
                <a:ea typeface="Roboto"/>
                <a:cs typeface="Roboto"/>
                <a:sym typeface="Roboto"/>
              </a:rPr>
              <a:t>the averages across data. </a:t>
            </a:r>
            <a:endParaRPr sz="1200">
              <a:solidFill>
                <a:schemeClr val="dk1"/>
              </a:solidFill>
              <a:highlight>
                <a:srgbClr val="FFFFFF"/>
              </a:highlight>
              <a:latin typeface="Roboto"/>
              <a:ea typeface="Roboto"/>
              <a:cs typeface="Roboto"/>
              <a:sym typeface="Roboto"/>
            </a:endParaRPr>
          </a:p>
          <a:p>
            <a:pPr indent="-304800" lvl="0" marL="457200" rtl="0" algn="l">
              <a:lnSpc>
                <a:spcPct val="100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Precipitation and wind direction </a:t>
            </a:r>
            <a:r>
              <a:rPr lang="en" sz="1200">
                <a:solidFill>
                  <a:schemeClr val="dk1"/>
                </a:solidFill>
                <a:highlight>
                  <a:srgbClr val="FFFFFF"/>
                </a:highlight>
                <a:latin typeface="Roboto"/>
                <a:ea typeface="Roboto"/>
                <a:cs typeface="Roboto"/>
                <a:sym typeface="Roboto"/>
              </a:rPr>
              <a:t>missing values replaced by 0 </a:t>
            </a:r>
            <a:r>
              <a:rPr lang="en" sz="1200">
                <a:solidFill>
                  <a:schemeClr val="dk1"/>
                </a:solidFill>
                <a:highlight>
                  <a:srgbClr val="FFFFFF"/>
                </a:highlight>
                <a:latin typeface="Roboto"/>
                <a:ea typeface="Roboto"/>
                <a:cs typeface="Roboto"/>
                <a:sym typeface="Roboto"/>
              </a:rPr>
              <a:t>due to their frequency. </a:t>
            </a:r>
            <a:endParaRPr sz="1200">
              <a:solidFill>
                <a:schemeClr val="dk1"/>
              </a:solidFill>
              <a:highlight>
                <a:srgbClr val="FFFFFF"/>
              </a:highlight>
              <a:latin typeface="Roboto"/>
              <a:ea typeface="Roboto"/>
              <a:cs typeface="Roboto"/>
              <a:sym typeface="Roboto"/>
            </a:endParaRPr>
          </a:p>
          <a:p>
            <a:pPr indent="-304800" lvl="0" marL="457200" rtl="0" algn="l">
              <a:lnSpc>
                <a:spcPct val="100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Visibility missing values replaced by</a:t>
            </a:r>
            <a:r>
              <a:rPr lang="en" sz="1200">
                <a:solidFill>
                  <a:schemeClr val="dk1"/>
                </a:solidFill>
                <a:highlight>
                  <a:srgbClr val="FFFFFF"/>
                </a:highlight>
                <a:latin typeface="Roboto"/>
                <a:ea typeface="Roboto"/>
                <a:cs typeface="Roboto"/>
                <a:sym typeface="Roboto"/>
              </a:rPr>
              <a:t> the standard of 10 miles for a clear day.</a:t>
            </a:r>
            <a:endParaRPr/>
          </a:p>
        </p:txBody>
      </p:sp>
      <p:pic>
        <p:nvPicPr>
          <p:cNvPr id="344" name="Google Shape;344;p22"/>
          <p:cNvPicPr preferRelativeResize="0"/>
          <p:nvPr/>
        </p:nvPicPr>
        <p:blipFill>
          <a:blip r:embed="rId3">
            <a:alphaModFix/>
          </a:blip>
          <a:stretch>
            <a:fillRect/>
          </a:stretch>
        </p:blipFill>
        <p:spPr>
          <a:xfrm>
            <a:off x="77813" y="3075375"/>
            <a:ext cx="8988375" cy="1347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3"/>
          <p:cNvSpPr txBox="1"/>
          <p:nvPr>
            <p:ph type="title"/>
          </p:nvPr>
        </p:nvSpPr>
        <p:spPr>
          <a:xfrm>
            <a:off x="1052275" y="699650"/>
            <a:ext cx="3701100" cy="572700"/>
          </a:xfrm>
          <a:prstGeom prst="rect">
            <a:avLst/>
          </a:prstGeom>
        </p:spPr>
        <p:txBody>
          <a:bodyPr anchorCtr="0" anchor="t" bIns="91425" lIns="91425" spcFirstLastPara="1" rIns="91425" wrap="square" tIns="91425">
            <a:normAutofit fontScale="90000"/>
          </a:bodyPr>
          <a:lstStyle/>
          <a:p>
            <a:pPr indent="0" lvl="0" marL="0" rtl="0" algn="l">
              <a:lnSpc>
                <a:spcPct val="120000"/>
              </a:lnSpc>
              <a:spcBef>
                <a:spcPts val="0"/>
              </a:spcBef>
              <a:spcAft>
                <a:spcPts val="0"/>
              </a:spcAft>
              <a:buClr>
                <a:schemeClr val="dk1"/>
              </a:buClr>
              <a:buSzPct val="35611"/>
              <a:buFont typeface="Arial"/>
              <a:buNone/>
            </a:pPr>
            <a:r>
              <a:rPr lang="en" sz="3088">
                <a:latin typeface="Roboto"/>
                <a:ea typeface="Roboto"/>
                <a:cs typeface="Roboto"/>
                <a:sym typeface="Roboto"/>
              </a:rPr>
              <a:t>Final Feature Selection for Modeling</a:t>
            </a:r>
            <a:endParaRPr sz="3088">
              <a:latin typeface="Roboto"/>
              <a:ea typeface="Roboto"/>
              <a:cs typeface="Roboto"/>
              <a:sym typeface="Roboto"/>
            </a:endParaRPr>
          </a:p>
          <a:p>
            <a:pPr indent="0" lvl="0" marL="0" rtl="0" algn="l">
              <a:spcBef>
                <a:spcPts val="0"/>
              </a:spcBef>
              <a:spcAft>
                <a:spcPts val="0"/>
              </a:spcAft>
              <a:buNone/>
            </a:pPr>
            <a:r>
              <a:t/>
            </a:r>
            <a:endParaRPr/>
          </a:p>
        </p:txBody>
      </p:sp>
      <p:pic>
        <p:nvPicPr>
          <p:cNvPr id="350" name="Google Shape;350;p23"/>
          <p:cNvPicPr preferRelativeResize="0"/>
          <p:nvPr/>
        </p:nvPicPr>
        <p:blipFill>
          <a:blip r:embed="rId3">
            <a:alphaModFix/>
          </a:blip>
          <a:stretch>
            <a:fillRect/>
          </a:stretch>
        </p:blipFill>
        <p:spPr>
          <a:xfrm>
            <a:off x="3573575" y="0"/>
            <a:ext cx="4726174" cy="2707449"/>
          </a:xfrm>
          <a:prstGeom prst="rect">
            <a:avLst/>
          </a:prstGeom>
          <a:noFill/>
          <a:ln>
            <a:noFill/>
          </a:ln>
        </p:spPr>
      </p:pic>
      <p:pic>
        <p:nvPicPr>
          <p:cNvPr id="351" name="Google Shape;351;p23"/>
          <p:cNvPicPr preferRelativeResize="0"/>
          <p:nvPr/>
        </p:nvPicPr>
        <p:blipFill>
          <a:blip r:embed="rId4">
            <a:alphaModFix/>
          </a:blip>
          <a:stretch>
            <a:fillRect/>
          </a:stretch>
        </p:blipFill>
        <p:spPr>
          <a:xfrm>
            <a:off x="3573575" y="2641398"/>
            <a:ext cx="4726174" cy="25021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4"/>
          <p:cNvSpPr txBox="1"/>
          <p:nvPr>
            <p:ph type="title"/>
          </p:nvPr>
        </p:nvSpPr>
        <p:spPr>
          <a:xfrm>
            <a:off x="1112200" y="6476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 Overview</a:t>
            </a:r>
            <a:endParaRPr/>
          </a:p>
        </p:txBody>
      </p:sp>
      <p:sp>
        <p:nvSpPr>
          <p:cNvPr id="357" name="Google Shape;357;p24"/>
          <p:cNvSpPr txBox="1"/>
          <p:nvPr>
            <p:ph idx="1" type="body"/>
          </p:nvPr>
        </p:nvSpPr>
        <p:spPr>
          <a:xfrm>
            <a:off x="541300" y="1453425"/>
            <a:ext cx="4260300" cy="41238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Starting with a cleaned dataset, the pipeline adds in additional </a:t>
            </a:r>
            <a:r>
              <a:rPr lang="en" sz="1200">
                <a:solidFill>
                  <a:schemeClr val="dk1"/>
                </a:solidFill>
                <a:highlight>
                  <a:srgbClr val="FFFFFF"/>
                </a:highlight>
                <a:latin typeface="Roboto"/>
                <a:ea typeface="Roboto"/>
                <a:cs typeface="Roboto"/>
                <a:sym typeface="Roboto"/>
              </a:rPr>
              <a:t>features, </a:t>
            </a:r>
            <a:r>
              <a:rPr lang="en" sz="1200">
                <a:solidFill>
                  <a:schemeClr val="dk1"/>
                </a:solidFill>
                <a:highlight>
                  <a:srgbClr val="FFFFFF"/>
                </a:highlight>
                <a:latin typeface="Roboto"/>
                <a:ea typeface="Roboto"/>
                <a:cs typeface="Roboto"/>
                <a:sym typeface="Roboto"/>
              </a:rPr>
              <a:t>such as the time since the last flight, if the flight has been cancelled before. </a:t>
            </a:r>
            <a:r>
              <a:rPr lang="en" sz="1200">
                <a:solidFill>
                  <a:schemeClr val="dk1"/>
                </a:solidFill>
                <a:highlight>
                  <a:srgbClr val="FFFFFF"/>
                </a:highlight>
                <a:latin typeface="Roboto"/>
                <a:ea typeface="Roboto"/>
                <a:cs typeface="Roboto"/>
                <a:sym typeface="Roboto"/>
              </a:rPr>
              <a:t>Then</a:t>
            </a:r>
            <a:r>
              <a:rPr lang="en" sz="1200">
                <a:solidFill>
                  <a:schemeClr val="dk1"/>
                </a:solidFill>
                <a:highlight>
                  <a:srgbClr val="FFFFFF"/>
                </a:highlight>
                <a:latin typeface="Roboto"/>
                <a:ea typeface="Roboto"/>
                <a:cs typeface="Roboto"/>
                <a:sym typeface="Roboto"/>
              </a:rPr>
              <a:t> it performs steps as follows:</a:t>
            </a:r>
            <a:endParaRPr sz="1200">
              <a:solidFill>
                <a:schemeClr val="dk1"/>
              </a:solidFill>
              <a:highlight>
                <a:srgbClr val="FFFFFF"/>
              </a:highlight>
              <a:latin typeface="Roboto"/>
              <a:ea typeface="Roboto"/>
              <a:cs typeface="Roboto"/>
              <a:sym typeface="Roboto"/>
            </a:endParaRPr>
          </a:p>
          <a:p>
            <a:pPr indent="-304800" lvl="0" marL="457200" rtl="0" algn="l">
              <a:lnSpc>
                <a:spcPct val="100000"/>
              </a:lnSpc>
              <a:spcBef>
                <a:spcPts val="120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An indexer is initialized. The categorical column is pushed into the StringIndexer, which takes each category and assigns it an index. </a:t>
            </a:r>
            <a:endParaRPr sz="1200">
              <a:solidFill>
                <a:schemeClr val="dk1"/>
              </a:solidFill>
              <a:highlight>
                <a:srgbClr val="FFFFFF"/>
              </a:highlight>
              <a:latin typeface="Roboto"/>
              <a:ea typeface="Roboto"/>
              <a:cs typeface="Roboto"/>
              <a:sym typeface="Roboto"/>
            </a:endParaRPr>
          </a:p>
          <a:p>
            <a:pPr indent="-304800" lvl="0" marL="457200" rtl="0" algn="l">
              <a:lnSpc>
                <a:spcPct val="100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An encoder is then used to take the list of indices and convert them into a vector of binary outputs. These are passed along with the continuous variables into the vector </a:t>
            </a:r>
            <a:r>
              <a:rPr lang="en" sz="1200">
                <a:solidFill>
                  <a:schemeClr val="dk1"/>
                </a:solidFill>
                <a:highlight>
                  <a:srgbClr val="FFFFFF"/>
                </a:highlight>
                <a:latin typeface="Roboto"/>
                <a:ea typeface="Roboto"/>
                <a:cs typeface="Roboto"/>
                <a:sym typeface="Roboto"/>
              </a:rPr>
              <a:t>assembler</a:t>
            </a:r>
            <a:r>
              <a:rPr lang="en" sz="1200">
                <a:solidFill>
                  <a:schemeClr val="dk1"/>
                </a:solidFill>
                <a:highlight>
                  <a:srgbClr val="FFFFFF"/>
                </a:highlight>
                <a:latin typeface="Roboto"/>
                <a:ea typeface="Roboto"/>
                <a:cs typeface="Roboto"/>
                <a:sym typeface="Roboto"/>
              </a:rPr>
              <a:t>. </a:t>
            </a:r>
            <a:endParaRPr sz="1200">
              <a:solidFill>
                <a:schemeClr val="dk1"/>
              </a:solidFill>
              <a:highlight>
                <a:srgbClr val="FFFFFF"/>
              </a:highlight>
              <a:latin typeface="Roboto"/>
              <a:ea typeface="Roboto"/>
              <a:cs typeface="Roboto"/>
              <a:sym typeface="Roboto"/>
            </a:endParaRPr>
          </a:p>
          <a:p>
            <a:pPr indent="-304800" lvl="0" marL="457200" rtl="0" algn="l">
              <a:lnSpc>
                <a:spcPct val="100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A standard scaler scales then puts the values of the feature into a smaller scale</a:t>
            </a:r>
            <a:endParaRPr/>
          </a:p>
        </p:txBody>
      </p:sp>
      <p:pic>
        <p:nvPicPr>
          <p:cNvPr id="358" name="Google Shape;358;p24"/>
          <p:cNvPicPr preferRelativeResize="0"/>
          <p:nvPr/>
        </p:nvPicPr>
        <p:blipFill>
          <a:blip r:embed="rId3">
            <a:alphaModFix/>
          </a:blip>
          <a:stretch>
            <a:fillRect/>
          </a:stretch>
        </p:blipFill>
        <p:spPr>
          <a:xfrm>
            <a:off x="4801600" y="526075"/>
            <a:ext cx="3486400" cy="43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Logistic Regression </a:t>
            </a:r>
            <a:r>
              <a:rPr lang="en"/>
              <a:t>Testing Results </a:t>
            </a:r>
            <a:endParaRPr/>
          </a:p>
        </p:txBody>
      </p:sp>
      <p:sp>
        <p:nvSpPr>
          <p:cNvPr id="364" name="Google Shape;364;p25"/>
          <p:cNvSpPr txBox="1"/>
          <p:nvPr>
            <p:ph idx="1" type="body"/>
          </p:nvPr>
        </p:nvSpPr>
        <p:spPr>
          <a:xfrm>
            <a:off x="589125" y="1399213"/>
            <a:ext cx="4184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Metrics:</a:t>
            </a:r>
            <a:endParaRPr/>
          </a:p>
          <a:p>
            <a:pPr indent="-311150" lvl="0" marL="457200" rtl="0" algn="l">
              <a:spcBef>
                <a:spcPts val="1200"/>
              </a:spcBef>
              <a:spcAft>
                <a:spcPts val="0"/>
              </a:spcAft>
              <a:buSzPts val="1300"/>
              <a:buChar char="●"/>
            </a:pPr>
            <a:r>
              <a:rPr lang="en"/>
              <a:t>Accuracy: 0.84</a:t>
            </a:r>
            <a:endParaRPr/>
          </a:p>
          <a:p>
            <a:pPr indent="-311150" lvl="0" marL="457200" rtl="0" algn="l">
              <a:spcBef>
                <a:spcPts val="0"/>
              </a:spcBef>
              <a:spcAft>
                <a:spcPts val="0"/>
              </a:spcAft>
              <a:buSzPts val="1300"/>
              <a:buChar char="●"/>
            </a:pPr>
            <a:r>
              <a:rPr lang="en"/>
              <a:t>F1 Score: 0.47</a:t>
            </a:r>
            <a:endParaRPr/>
          </a:p>
          <a:p>
            <a:pPr indent="-311150" lvl="0" marL="457200" rtl="0" algn="l">
              <a:spcBef>
                <a:spcPts val="0"/>
              </a:spcBef>
              <a:spcAft>
                <a:spcPts val="0"/>
              </a:spcAft>
              <a:buSzPts val="1300"/>
              <a:buChar char="●"/>
            </a:pPr>
            <a:r>
              <a:rPr lang="en"/>
              <a:t>Precision: 0.69</a:t>
            </a:r>
            <a:endParaRPr/>
          </a:p>
          <a:p>
            <a:pPr indent="-311150" lvl="0" marL="457200" rtl="0" algn="l">
              <a:spcBef>
                <a:spcPts val="0"/>
              </a:spcBef>
              <a:spcAft>
                <a:spcPts val="0"/>
              </a:spcAft>
              <a:buSzPts val="1300"/>
              <a:buChar char="●"/>
            </a:pPr>
            <a:r>
              <a:rPr lang="en"/>
              <a:t>Recall: 0.36</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Additional Metrics: </a:t>
            </a:r>
            <a:endParaRPr/>
          </a:p>
          <a:p>
            <a:pPr indent="-311150" lvl="0" marL="457200" rtl="0" algn="l">
              <a:spcBef>
                <a:spcPts val="1200"/>
              </a:spcBef>
              <a:spcAft>
                <a:spcPts val="0"/>
              </a:spcAft>
              <a:buSzPts val="1300"/>
              <a:buChar char="●"/>
            </a:pPr>
            <a:r>
              <a:rPr lang="en"/>
              <a:t>True Positives: </a:t>
            </a:r>
            <a:r>
              <a:rPr lang="en"/>
              <a:t>29901</a:t>
            </a:r>
            <a:endParaRPr/>
          </a:p>
          <a:p>
            <a:pPr indent="-311150" lvl="0" marL="457200" rtl="0" algn="l">
              <a:spcBef>
                <a:spcPts val="0"/>
              </a:spcBef>
              <a:spcAft>
                <a:spcPts val="0"/>
              </a:spcAft>
              <a:buSzPts val="1300"/>
              <a:buChar char="●"/>
            </a:pPr>
            <a:r>
              <a:rPr lang="en"/>
              <a:t>False</a:t>
            </a:r>
            <a:r>
              <a:rPr lang="en"/>
              <a:t> Positives: 13472</a:t>
            </a:r>
            <a:endParaRPr/>
          </a:p>
          <a:p>
            <a:pPr indent="-311150" lvl="0" marL="457200" rtl="0" algn="l">
              <a:spcBef>
                <a:spcPts val="0"/>
              </a:spcBef>
              <a:spcAft>
                <a:spcPts val="0"/>
              </a:spcAft>
              <a:buSzPts val="1300"/>
              <a:buChar char="●"/>
            </a:pPr>
            <a:r>
              <a:rPr lang="en"/>
              <a:t>True Negatives: 311159</a:t>
            </a:r>
            <a:endParaRPr/>
          </a:p>
          <a:p>
            <a:pPr indent="-311150" lvl="0" marL="457200" rtl="0" algn="l">
              <a:spcBef>
                <a:spcPts val="0"/>
              </a:spcBef>
              <a:spcAft>
                <a:spcPts val="0"/>
              </a:spcAft>
              <a:buSzPts val="1300"/>
              <a:buChar char="●"/>
            </a:pPr>
            <a:r>
              <a:rPr lang="en"/>
              <a:t>False Negatives: 53329</a:t>
            </a:r>
            <a:endParaRPr/>
          </a:p>
        </p:txBody>
      </p:sp>
      <p:pic>
        <p:nvPicPr>
          <p:cNvPr id="365" name="Google Shape;365;p25"/>
          <p:cNvPicPr preferRelativeResize="0"/>
          <p:nvPr/>
        </p:nvPicPr>
        <p:blipFill>
          <a:blip r:embed="rId3">
            <a:alphaModFix/>
          </a:blip>
          <a:stretch>
            <a:fillRect/>
          </a:stretch>
        </p:blipFill>
        <p:spPr>
          <a:xfrm>
            <a:off x="4496100" y="1383500"/>
            <a:ext cx="4343101" cy="34478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371" name="Google Shape;371;p26"/>
          <p:cNvSpPr txBox="1"/>
          <p:nvPr>
            <p:ph idx="1" type="body"/>
          </p:nvPr>
        </p:nvSpPr>
        <p:spPr>
          <a:xfrm>
            <a:off x="1056750" y="1300950"/>
            <a:ext cx="7030500" cy="2541600"/>
          </a:xfrm>
          <a:prstGeom prst="rect">
            <a:avLst/>
          </a:prstGeom>
        </p:spPr>
        <p:txBody>
          <a:bodyPr anchorCtr="0" anchor="t" bIns="91425" lIns="91425" spcFirstLastPara="1" rIns="91425" wrap="square" tIns="91425">
            <a:noAutofit/>
          </a:bodyPr>
          <a:lstStyle/>
          <a:p>
            <a:pPr indent="-317500" lvl="0" marL="457200" rtl="0" algn="l">
              <a:lnSpc>
                <a:spcPct val="160000"/>
              </a:lnSpc>
              <a:spcBef>
                <a:spcPts val="1200"/>
              </a:spcBef>
              <a:spcAft>
                <a:spcPts val="0"/>
              </a:spcAft>
              <a:buClr>
                <a:schemeClr val="dk1"/>
              </a:buClr>
              <a:buSzPts val="1400"/>
              <a:buFont typeface="Roboto"/>
              <a:buChar char="●"/>
            </a:pPr>
            <a:r>
              <a:rPr lang="en" sz="1400">
                <a:solidFill>
                  <a:schemeClr val="dk1"/>
                </a:solidFill>
                <a:latin typeface="Roboto"/>
                <a:ea typeface="Roboto"/>
                <a:cs typeface="Roboto"/>
                <a:sym typeface="Roboto"/>
              </a:rPr>
              <a:t>Goal: predicting flight delays exceeding 15 minutes by integrating weather data with flight information. </a:t>
            </a:r>
            <a:endParaRPr sz="1400">
              <a:solidFill>
                <a:schemeClr val="dk1"/>
              </a:solidFill>
              <a:latin typeface="Roboto"/>
              <a:ea typeface="Roboto"/>
              <a:cs typeface="Roboto"/>
              <a:sym typeface="Roboto"/>
            </a:endParaRPr>
          </a:p>
          <a:p>
            <a:pPr indent="-317500" lvl="0" marL="457200" rtl="0" algn="l">
              <a:lnSpc>
                <a:spcPct val="160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Hypothesis: machine learning pipelines with custom features could accurately forecast such delays.</a:t>
            </a:r>
            <a:endParaRPr sz="1400">
              <a:solidFill>
                <a:schemeClr val="dk1"/>
              </a:solidFill>
              <a:latin typeface="Roboto"/>
              <a:ea typeface="Roboto"/>
              <a:cs typeface="Roboto"/>
              <a:sym typeface="Roboto"/>
            </a:endParaRPr>
          </a:p>
          <a:p>
            <a:pPr indent="-317500" lvl="0" marL="457200" rtl="0" algn="l">
              <a:lnSpc>
                <a:spcPct val="160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Result: showed that the logistic regression model could predict flight delays with reasonable accuracy of 83%, demonstrating the potential of machine learning in this domain. However, there is room for improvement in precision and recall, particularly for delayed flights.</a:t>
            </a:r>
            <a:endParaRPr sz="1400">
              <a:solidFill>
                <a:schemeClr val="dk1"/>
              </a:solidFill>
              <a:latin typeface="Roboto"/>
              <a:ea typeface="Roboto"/>
              <a:cs typeface="Roboto"/>
              <a:sym typeface="Roboto"/>
            </a:endParaRPr>
          </a:p>
          <a:p>
            <a:pPr indent="-317500" lvl="0" marL="457200" rtl="0" algn="l">
              <a:lnSpc>
                <a:spcPct val="160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Future work: balance data, explore more sophisticated models, additional features, and different definitions of flight delays to enhance predictive performance. </a:t>
            </a:r>
            <a:endParaRPr sz="14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77" name="Google Shape;377;p2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